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2" r:id="rId2"/>
  </p:sldMasterIdLst>
  <p:sldIdLst>
    <p:sldId id="257" r:id="rId3"/>
    <p:sldId id="2147474619" r:id="rId4"/>
    <p:sldId id="2147474620" r:id="rId5"/>
    <p:sldId id="2147474623" r:id="rId6"/>
    <p:sldId id="2147474624" r:id="rId7"/>
    <p:sldId id="2147474626" r:id="rId8"/>
    <p:sldId id="2147474627" r:id="rId9"/>
    <p:sldId id="2147474628" r:id="rId10"/>
    <p:sldId id="2147474621" r:id="rId11"/>
    <p:sldId id="21474746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B7E2DE-7486-CE45-99C8-1D810C1520E6}" v="3" dt="2026-05-12T14:52:01.125"/>
    <p1510:client id="{7869CD05-6462-5986-0DD7-FE6AE048101A}" v="84" dt="2026-05-12T10:29:34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10.emf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11.emf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11.emf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00C29-7BE3-9CBF-3ACC-B19B8054C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F143F-7BED-0245-26CF-75BD1E9E0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4F111-5E5A-03F8-719E-43E9DA69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E28A6-0B10-B773-FD88-17E077BE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D6743-E0A8-DDF3-BE10-CCB9F42A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50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68CF-B4A6-EEC8-1154-9118879B6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B64B8-BF5C-AC12-C2E7-EC4CE712C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36A69-262F-D962-7E57-A8C734EA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F75D3-DF35-4312-6AE4-4FB3405E7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B688A-07F8-AF94-1604-5EBA663B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07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BA06-E9DF-5992-5D9D-919DD20C3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4316E-2755-A866-F46F-60730B5FD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CF541-8EF3-F463-412D-9E42E37B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23399-E9EA-F642-8334-5CF0FD93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58005-AC7D-5FFA-DDD8-C08E1DA7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4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F0FD-3E5D-CFAA-9A5B-5AEFE7A8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7F99C-AA4D-321A-2CE6-50608CCAE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21BAE-1FFC-03E2-7A30-43D6E1F3C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1A8A7-7976-F1AD-6615-85914A8F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F7679-C048-2224-9821-493F34174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EE3CA-0D7B-89E1-DEB0-9D929944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5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E8335-DB86-3DF9-05EE-650D5695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51C21-F6BE-CCEE-3B41-C8D04CDBC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3E100-9D38-A011-387F-46C2E15B6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39B873-04A5-D2E2-8A15-5B7CE0BB8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7E022-CC5F-3CFA-CE29-01C154D56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ACCA2-130D-5325-576B-18ABA57A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DC92B-487C-FED5-523A-803460C6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06412-7D1D-F73D-EB49-FCFB831F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91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7479-F9A8-3AED-9AC4-9B114A1A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99FE7A-311A-6C20-F255-1FF30D7E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BF8F7-BD02-1FE9-447E-1D7985AA8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E4291-EE3F-5488-BDFD-AFD1195C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84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D533F-8D25-296B-7E37-05E7A186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C0812D-B843-BCC6-F593-CD936B73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A74AB-EC2D-D641-D26F-89B0CB48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3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BD35-ECF2-A698-2E41-B7BFD4C62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F7265-0F01-284D-D7BD-ABA49DDE7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C9FC7-A2AF-B73A-4239-A22213259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6C5C7-BC76-2F5D-D654-D91D436EC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736AB-9B5E-027E-73F4-205217A61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ACFEE-7570-13E3-8BF2-1901D3815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3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F752-2DDE-A860-1798-CC9E489DE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3AADA3-B0B1-7EDB-932B-BF7F2234F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DEDB8-8099-352E-0089-FE7000BF8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251F6-271F-0E55-7151-B9814418D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6E06D-72E8-5E34-7243-AD6AEE40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C382D-BB81-EA82-5B4D-346027FA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27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41307-EF81-42A6-8C23-932B3B2F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D2B9C-69A2-FBA8-B84E-749EA2241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407D9-9CF9-60D2-1A1A-31717E40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9B7EB-B5D9-535C-FEBE-ABE935ADB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03614-9955-5662-6B68-3C60F600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59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68D1F-A052-3A79-6A9B-E1013C76D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7F810-0D76-0773-730D-07A4F0E3E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AAC97-7A3A-F50E-1797-705587ECF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0568B-BDFF-1E4A-9BC0-2395DE67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E2C1-BDDC-45B7-74DE-B0D31B86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59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55" y="6272437"/>
            <a:ext cx="11402568" cy="46795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547995FF-C54C-F041-B523-4692726BC2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48" y="6328394"/>
            <a:ext cx="1416309" cy="361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41215" y="1722481"/>
            <a:ext cx="11036991" cy="159488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541217" y="3405452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0"/>
          </p:nvPr>
        </p:nvSpPr>
        <p:spPr>
          <a:xfrm>
            <a:off x="541215" y="3927379"/>
            <a:ext cx="11036991" cy="409408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EC420D6-525D-784B-8F3D-07F37B0C72E4}"/>
              </a:ext>
            </a:extLst>
          </p:cNvPr>
          <p:cNvCxnSpPr>
            <a:cxnSpLocks/>
          </p:cNvCxnSpPr>
          <p:nvPr userDrawn="1"/>
        </p:nvCxnSpPr>
        <p:spPr>
          <a:xfrm>
            <a:off x="1742919" y="6398100"/>
            <a:ext cx="0" cy="2155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F0431B6-A37A-4B4D-8F51-389B2242D3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11" y="268133"/>
            <a:ext cx="2175708" cy="1201674"/>
          </a:xfrm>
          <a:prstGeom prst="rect">
            <a:avLst/>
          </a:prstGeom>
        </p:spPr>
      </p:pic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EA3BEEBE-4A97-65F2-C5F4-2C0146F2D7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567" y="6356024"/>
            <a:ext cx="1700704" cy="29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159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55" y="6272437"/>
            <a:ext cx="11402568" cy="46795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547995FF-C54C-F041-B523-4692726BC2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48" y="6328394"/>
            <a:ext cx="1416309" cy="361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41215" y="1722481"/>
            <a:ext cx="11036991" cy="159488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541217" y="3405452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0"/>
          </p:nvPr>
        </p:nvSpPr>
        <p:spPr>
          <a:xfrm>
            <a:off x="541215" y="3927379"/>
            <a:ext cx="11036991" cy="409408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EC420D6-525D-784B-8F3D-07F37B0C72E4}"/>
              </a:ext>
            </a:extLst>
          </p:cNvPr>
          <p:cNvCxnSpPr>
            <a:cxnSpLocks/>
          </p:cNvCxnSpPr>
          <p:nvPr userDrawn="1"/>
        </p:nvCxnSpPr>
        <p:spPr>
          <a:xfrm>
            <a:off x="1742919" y="6398100"/>
            <a:ext cx="0" cy="2155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F0431B6-A37A-4B4D-8F51-389B2242D3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11" y="268133"/>
            <a:ext cx="2175708" cy="1201674"/>
          </a:xfrm>
          <a:prstGeom prst="rect">
            <a:avLst/>
          </a:prstGeom>
        </p:spPr>
      </p:pic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EA3BEEBE-4A97-65F2-C5F4-2C0146F2D7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567" y="6356024"/>
            <a:ext cx="1700704" cy="29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11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376518"/>
            <a:ext cx="11730789" cy="5681734"/>
          </a:xfrm>
        </p:spPr>
        <p:txBody>
          <a:bodyPr>
            <a:normAutofit/>
          </a:bodyPr>
          <a:lstStyle>
            <a:lvl1pPr>
              <a:defRPr sz="5400">
                <a:solidFill>
                  <a:srgbClr val="1A144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D7689C-0806-49CA-ADB1-91D43C05DE55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B4402-A46E-4B4E-9887-413955989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3B57896-F51A-4869-B2DF-EEEC67F1B2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4372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9"/>
            <a:ext cx="117348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5552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1" y="1443039"/>
            <a:ext cx="5639547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0937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299" y="1443039"/>
            <a:ext cx="73152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AC987B-0659-4BC7-B0F8-0F7209F6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5585" y="1443037"/>
            <a:ext cx="4114800" cy="4114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/>
              <a:t>To add a picture, click on the icon in the center of this box.</a:t>
            </a:r>
          </a:p>
        </p:txBody>
      </p:sp>
    </p:spTree>
    <p:extLst>
      <p:ext uri="{BB962C8B-B14F-4D97-AF65-F5344CB8AC3E}">
        <p14:creationId xmlns:p14="http://schemas.microsoft.com/office/powerpoint/2010/main" val="2305194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A868B6-943B-4427-804E-4CF28F0B3C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5B7CF-50D1-4142-8E91-4D0439169C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61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o title or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81603C-7D7B-4CD9-977F-C50E141D2D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5F73B0-7EC3-4F4E-8FA0-70EB0178A2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66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3867BC22-ECD2-4F11-ABF1-08142643E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277" y="1036571"/>
            <a:ext cx="4044931" cy="224958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F538FB8-7B5D-4A74-88E0-77DA45FF58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262" y="5585318"/>
            <a:ext cx="495067" cy="495067"/>
          </a:xfrm>
          <a:prstGeom prst="rect">
            <a:avLst/>
          </a:prstGeom>
        </p:spPr>
      </p:pic>
      <p:sp>
        <p:nvSpPr>
          <p:cNvPr id="88" name="TextBox 7">
            <a:extLst>
              <a:ext uri="{FF2B5EF4-FFF2-40B4-BE49-F238E27FC236}">
                <a16:creationId xmlns:a16="http://schemas.microsoft.com/office/drawing/2014/main" id="{847DD05C-05D6-4C26-B7DA-D068A861D2CC}"/>
              </a:ext>
            </a:extLst>
          </p:cNvPr>
          <p:cNvSpPr txBox="1"/>
          <p:nvPr userDrawn="1"/>
        </p:nvSpPr>
        <p:spPr>
          <a:xfrm>
            <a:off x="7311334" y="5708954"/>
            <a:ext cx="4880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>
                <a:solidFill>
                  <a:schemeClr val="tx2"/>
                </a:solidFill>
              </a:rPr>
              <a:t>@Liberty Information Technology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28800EA2-57F1-417C-B405-41A0EB8D89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373" y="5583227"/>
            <a:ext cx="585079" cy="495067"/>
          </a:xfrm>
          <a:prstGeom prst="rect">
            <a:avLst/>
          </a:prstGeom>
        </p:spPr>
      </p:pic>
      <p:sp>
        <p:nvSpPr>
          <p:cNvPr id="90" name="TextBox 10">
            <a:extLst>
              <a:ext uri="{FF2B5EF4-FFF2-40B4-BE49-F238E27FC236}">
                <a16:creationId xmlns:a16="http://schemas.microsoft.com/office/drawing/2014/main" id="{13FC28C2-5E68-48B2-B5F1-95BEBAE628FB}"/>
              </a:ext>
            </a:extLst>
          </p:cNvPr>
          <p:cNvSpPr txBox="1"/>
          <p:nvPr userDrawn="1"/>
        </p:nvSpPr>
        <p:spPr>
          <a:xfrm>
            <a:off x="5190445" y="5708958"/>
            <a:ext cx="1459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>
                <a:solidFill>
                  <a:schemeClr val="tx2"/>
                </a:solidFill>
              </a:rPr>
              <a:t>@Liberty IT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9B8570AF-8629-4F1B-851C-DDA21B5CB21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534" y="5584475"/>
            <a:ext cx="495068" cy="495068"/>
          </a:xfrm>
          <a:prstGeom prst="rect">
            <a:avLst/>
          </a:prstGeom>
        </p:spPr>
      </p:pic>
      <p:sp>
        <p:nvSpPr>
          <p:cNvPr id="92" name="TextBox 13">
            <a:extLst>
              <a:ext uri="{FF2B5EF4-FFF2-40B4-BE49-F238E27FC236}">
                <a16:creationId xmlns:a16="http://schemas.microsoft.com/office/drawing/2014/main" id="{D5B39B91-530E-4799-B465-B0EDCEAC59CC}"/>
              </a:ext>
            </a:extLst>
          </p:cNvPr>
          <p:cNvSpPr txBox="1"/>
          <p:nvPr userDrawn="1"/>
        </p:nvSpPr>
        <p:spPr>
          <a:xfrm>
            <a:off x="2710601" y="5708958"/>
            <a:ext cx="1706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>
                <a:solidFill>
                  <a:schemeClr val="tx2"/>
                </a:solidFill>
              </a:rPr>
              <a:t>@Liberty_IT</a:t>
            </a:r>
          </a:p>
        </p:txBody>
      </p:sp>
    </p:spTree>
    <p:extLst>
      <p:ext uri="{BB962C8B-B14F-4D97-AF65-F5344CB8AC3E}">
        <p14:creationId xmlns:p14="http://schemas.microsoft.com/office/powerpoint/2010/main" val="36236796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3C1B-1FC0-84A5-8252-BF995488A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FCE06-2507-6D4C-DBB7-CCF9E124D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D237F-4DD3-BB62-B5DA-5036EF1B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8783-EC7E-5440-856B-6E9F7608A3E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D4559-3677-C7D8-B636-52BA229D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189ED-0AA5-FC53-9C23-95FE1A14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8DB27-CCC2-2147-8739-65C6FAD37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883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547995FF-C54C-F041-B523-4692726B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48" y="6328394"/>
            <a:ext cx="1416309" cy="361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41215" y="1722481"/>
            <a:ext cx="11036991" cy="159488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541217" y="3405452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0"/>
          </p:nvPr>
        </p:nvSpPr>
        <p:spPr>
          <a:xfrm>
            <a:off x="541215" y="3927379"/>
            <a:ext cx="11036991" cy="409408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  <a:noFill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  <a:grpFill/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  <a:grpFill/>
          </p:spPr>
        </p:pic>
      </p:grpSp>
      <p:grpSp>
        <p:nvGrpSpPr>
          <p:cNvPr id="11" name="Group 10"/>
          <p:cNvGrpSpPr/>
          <p:nvPr userDrawn="1"/>
        </p:nvGrpSpPr>
        <p:grpSpPr bwMode="gray">
          <a:xfrm>
            <a:off x="423972" y="436007"/>
            <a:ext cx="2800493" cy="728507"/>
            <a:chOff x="3387726" y="2736850"/>
            <a:chExt cx="5411788" cy="1384300"/>
          </a:xfrm>
        </p:grpSpPr>
        <p:sp>
          <p:nvSpPr>
            <p:cNvPr id="15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EC420D6-525D-784B-8F3D-07F37B0C72E4}"/>
              </a:ext>
            </a:extLst>
          </p:cNvPr>
          <p:cNvCxnSpPr>
            <a:cxnSpLocks/>
          </p:cNvCxnSpPr>
          <p:nvPr userDrawn="1"/>
        </p:nvCxnSpPr>
        <p:spPr>
          <a:xfrm>
            <a:off x="1742919" y="6398100"/>
            <a:ext cx="0" cy="2155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19">
            <a:extLst>
              <a:ext uri="{FF2B5EF4-FFF2-40B4-BE49-F238E27FC236}">
                <a16:creationId xmlns:a16="http://schemas.microsoft.com/office/drawing/2014/main" id="{2A157952-B394-47EB-AAD3-8A4E73E086C7}"/>
              </a:ext>
            </a:extLst>
          </p:cNvPr>
          <p:cNvSpPr txBox="1">
            <a:spLocks/>
          </p:cNvSpPr>
          <p:nvPr userDrawn="1"/>
        </p:nvSpPr>
        <p:spPr>
          <a:xfrm>
            <a:off x="1764845" y="6329784"/>
            <a:ext cx="3995995" cy="3854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96875" indent="-192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88963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69938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50913" indent="-1571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3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>
                <a:solidFill>
                  <a:schemeClr val="tx2"/>
                </a:solidFill>
              </a:rPr>
              <a:t>Corporate Treasury Financial Solutions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9DB231-4DAF-4293-99E6-BAF60F9B3B25}"/>
              </a:ext>
            </a:extLst>
          </p:cNvPr>
          <p:cNvCxnSpPr/>
          <p:nvPr userDrawn="1"/>
        </p:nvCxnSpPr>
        <p:spPr>
          <a:xfrm>
            <a:off x="132974" y="6223139"/>
            <a:ext cx="1192606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1999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376518"/>
            <a:ext cx="11730789" cy="5681734"/>
          </a:xfrm>
        </p:spPr>
        <p:txBody>
          <a:bodyPr>
            <a:normAutofit/>
          </a:bodyPr>
          <a:lstStyle>
            <a:lvl1pPr>
              <a:defRPr sz="5400">
                <a:solidFill>
                  <a:srgbClr val="1A144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D7689C-0806-49CA-ADB1-91D43C05DE55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B4402-A46E-4B4E-9887-413955989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3B57896-F51A-4869-B2DF-EEEC67F1B2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5990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9"/>
            <a:ext cx="11734800" cy="4706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3493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1" y="1443039"/>
            <a:ext cx="5639547" cy="4706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66177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299" y="1443039"/>
            <a:ext cx="7315200" cy="4706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AC987B-0659-4BC7-B0F8-0F7209F6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5585" y="1443037"/>
            <a:ext cx="4114800" cy="4114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/>
              <a:t>To add a picture, click on the icon in the center of this box.</a:t>
            </a:r>
          </a:p>
        </p:txBody>
      </p:sp>
    </p:spTree>
    <p:extLst>
      <p:ext uri="{BB962C8B-B14F-4D97-AF65-F5344CB8AC3E}">
        <p14:creationId xmlns:p14="http://schemas.microsoft.com/office/powerpoint/2010/main" val="35049045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 bwMode="gray">
          <a:xfrm>
            <a:off x="2631696" y="2432562"/>
            <a:ext cx="6928611" cy="1802376"/>
            <a:chOff x="3387726" y="2736850"/>
            <a:chExt cx="5411788" cy="1384300"/>
          </a:xfrm>
        </p:grpSpPr>
        <p:sp>
          <p:nvSpPr>
            <p:cNvPr id="47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8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9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0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1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2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7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8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9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1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227503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6972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5639547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3812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 bwMode="gray">
          <a:xfrm>
            <a:off x="2631695" y="2432562"/>
            <a:ext cx="6928611" cy="1802376"/>
            <a:chOff x="3387726" y="2736850"/>
            <a:chExt cx="5411788" cy="1384300"/>
          </a:xfrm>
        </p:grpSpPr>
        <p:sp>
          <p:nvSpPr>
            <p:cNvPr id="47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99809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55" y="6272429"/>
            <a:ext cx="11402568" cy="4679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41211" y="1722473"/>
            <a:ext cx="11036990" cy="159488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541211" y="3405449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0"/>
          </p:nvPr>
        </p:nvSpPr>
        <p:spPr>
          <a:xfrm>
            <a:off x="541211" y="3927379"/>
            <a:ext cx="11036990" cy="409408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 txBox="1">
            <a:spLocks/>
          </p:cNvSpPr>
          <p:nvPr userDrawn="1"/>
        </p:nvSpPr>
        <p:spPr>
          <a:xfrm>
            <a:off x="180220" y="6314205"/>
            <a:ext cx="3995995" cy="3854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96875" indent="-192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88963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69938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50913" indent="-1571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>
                <a:solidFill>
                  <a:srgbClr val="1A1446"/>
                </a:solidFill>
              </a:rPr>
              <a:t>Finance Transformation &amp; Solutions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 userDrawn="1"/>
        </p:nvGrpSpPr>
        <p:grpSpPr bwMode="gray">
          <a:xfrm>
            <a:off x="423972" y="435999"/>
            <a:ext cx="2800493" cy="728507"/>
            <a:chOff x="3387726" y="2736850"/>
            <a:chExt cx="5411788" cy="1384300"/>
          </a:xfrm>
        </p:grpSpPr>
        <p:sp>
          <p:nvSpPr>
            <p:cNvPr id="15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A4334-FF53-8BF3-D297-629B528C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256BE-59C9-62AD-AC55-679457B3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064971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EED98C9-724F-4292-A5D6-76EF41EC66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EED98C9-724F-4292-A5D6-76EF41EC6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40BCFB5B-F443-492A-81B4-44112DBA1137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2DBEAD0-72C8-48AC-80BA-6CE4AA0127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937265E-5D9F-4E46-A0DF-54C31985D1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1" y="2429088"/>
            <a:ext cx="11730789" cy="1124101"/>
          </a:xfrm>
        </p:spPr>
        <p:txBody>
          <a:bodyPr vert="horz">
            <a:norm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EA173D0-264A-4A50-BB7E-9C0BBE533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31" y="3678819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86914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6077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5639547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9344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299" y="1443037"/>
            <a:ext cx="73152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AC987B-0659-4BC7-B0F8-0F7209F6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5585" y="1443037"/>
            <a:ext cx="4114800" cy="4114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/>
              <a:t>To add a picture, click on the icon in the center of this box.</a:t>
            </a:r>
          </a:p>
        </p:txBody>
      </p:sp>
    </p:spTree>
    <p:extLst>
      <p:ext uri="{BB962C8B-B14F-4D97-AF65-F5344CB8AC3E}">
        <p14:creationId xmlns:p14="http://schemas.microsoft.com/office/powerpoint/2010/main" val="1180153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 bwMode="gray">
          <a:xfrm>
            <a:off x="2631695" y="2432562"/>
            <a:ext cx="6928611" cy="1802376"/>
            <a:chOff x="3387726" y="2736850"/>
            <a:chExt cx="5411788" cy="1384300"/>
          </a:xfrm>
        </p:grpSpPr>
        <p:sp>
          <p:nvSpPr>
            <p:cNvPr id="47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74032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B2B3F004-E1B2-3A32-636C-5742EBB15B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B3F004-E1B2-3A32-636C-5742EBB15B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8501" y="6370639"/>
            <a:ext cx="628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200" kern="120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1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8682" y="6325035"/>
            <a:ext cx="5934636" cy="36512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1400" kern="120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299" y="1443037"/>
            <a:ext cx="73152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AC987B-0659-4BC7-B0F8-0F7209F6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5585" y="1443037"/>
            <a:ext cx="4114800" cy="4114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/>
              <a:t>To add a picture, click on the icon in the center of this box.</a:t>
            </a:r>
          </a:p>
        </p:txBody>
      </p:sp>
    </p:spTree>
    <p:extLst>
      <p:ext uri="{BB962C8B-B14F-4D97-AF65-F5344CB8AC3E}">
        <p14:creationId xmlns:p14="http://schemas.microsoft.com/office/powerpoint/2010/main" val="22881575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8501" y="6370639"/>
            <a:ext cx="628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200" kern="120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1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8682" y="6325035"/>
            <a:ext cx="5934636" cy="36512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1400" kern="120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299" y="1443037"/>
            <a:ext cx="73152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0AC987B-0659-4BC7-B0F8-0F7209F6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65585" y="1443037"/>
            <a:ext cx="4114800" cy="4114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/>
              <a:t>To add a picture, click on the icon in the center of this box.</a:t>
            </a:r>
          </a:p>
        </p:txBody>
      </p:sp>
    </p:spTree>
    <p:extLst>
      <p:ext uri="{BB962C8B-B14F-4D97-AF65-F5344CB8AC3E}">
        <p14:creationId xmlns:p14="http://schemas.microsoft.com/office/powerpoint/2010/main" val="34561093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55" y="6272429"/>
            <a:ext cx="11402568" cy="4679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41211" y="1722473"/>
            <a:ext cx="11036990" cy="159488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541211" y="3405449"/>
            <a:ext cx="11036991" cy="397661"/>
          </a:xfrm>
        </p:spPr>
        <p:txBody>
          <a:bodyPr anchor="t"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0"/>
          </p:nvPr>
        </p:nvSpPr>
        <p:spPr>
          <a:xfrm>
            <a:off x="541211" y="3927379"/>
            <a:ext cx="11036990" cy="409408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 txBox="1">
            <a:spLocks/>
          </p:cNvSpPr>
          <p:nvPr userDrawn="1"/>
        </p:nvSpPr>
        <p:spPr>
          <a:xfrm>
            <a:off x="180220" y="6314205"/>
            <a:ext cx="3995995" cy="3854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96875" indent="-192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88963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69938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50913" indent="-1571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>
                <a:solidFill>
                  <a:srgbClr val="1A1446"/>
                </a:solidFill>
              </a:rPr>
              <a:t>Corporate Financial Systems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2C5812-C15A-428F-AB7A-9E4F62924C10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86B8CD5-A813-403D-B3CF-D48D9D599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DD94C4-96CC-42B8-B318-6685880B8FA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 userDrawn="1"/>
        </p:nvGrpSpPr>
        <p:grpSpPr bwMode="gray">
          <a:xfrm>
            <a:off x="423972" y="435999"/>
            <a:ext cx="2800493" cy="728507"/>
            <a:chOff x="3387726" y="2736850"/>
            <a:chExt cx="5411788" cy="1384300"/>
          </a:xfrm>
        </p:grpSpPr>
        <p:sp>
          <p:nvSpPr>
            <p:cNvPr id="15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69CFA-7F0F-73AD-C49D-83D77F7E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02832-3852-F197-05AF-DD198FCD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CE90-470A-43E3-A052-3E8AD880B4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776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1" y="376518"/>
            <a:ext cx="11730789" cy="5681734"/>
          </a:xfrm>
        </p:spPr>
        <p:txBody>
          <a:bodyPr>
            <a:normAutofit/>
          </a:bodyPr>
          <a:lstStyle>
            <a:lvl1pPr>
              <a:defRPr sz="5400">
                <a:solidFill>
                  <a:srgbClr val="1A144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D7689C-0806-49CA-ADB1-91D43C05DE55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B4402-A46E-4B4E-9887-413955989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3B57896-F51A-4869-B2DF-EEEC67F1B2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1700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A72AF70-6FA6-4739-86E1-74E3A2E720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A72AF70-6FA6-4739-86E1-74E3A2E720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0697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6B6FA58-A07A-4C64-B843-B2D33D6E27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6B6FA58-A07A-4C64-B843-B2D33D6E27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5639547" cy="4706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34D4D-039D-4270-8CBC-8D0ACEF79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7859" y="1460500"/>
            <a:ext cx="5641848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7376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ogo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 bwMode="gray">
          <a:xfrm>
            <a:off x="2631695" y="2432562"/>
            <a:ext cx="6928611" cy="1802376"/>
            <a:chOff x="3387726" y="2736850"/>
            <a:chExt cx="5411788" cy="1384300"/>
          </a:xfrm>
        </p:grpSpPr>
        <p:sp>
          <p:nvSpPr>
            <p:cNvPr id="47" name="Freeform 55"/>
            <p:cNvSpPr>
              <a:spLocks/>
            </p:cNvSpPr>
            <p:nvPr/>
          </p:nvSpPr>
          <p:spPr bwMode="gray">
            <a:xfrm>
              <a:off x="4462463" y="3157538"/>
              <a:ext cx="331788" cy="419100"/>
            </a:xfrm>
            <a:custGeom>
              <a:avLst/>
              <a:gdLst>
                <a:gd name="T0" fmla="*/ 39 w 88"/>
                <a:gd name="T1" fmla="*/ 92 h 111"/>
                <a:gd name="T2" fmla="*/ 56 w 88"/>
                <a:gd name="T3" fmla="*/ 104 h 111"/>
                <a:gd name="T4" fmla="*/ 85 w 88"/>
                <a:gd name="T5" fmla="*/ 82 h 111"/>
                <a:gd name="T6" fmla="*/ 88 w 88"/>
                <a:gd name="T7" fmla="*/ 82 h 111"/>
                <a:gd name="T8" fmla="*/ 85 w 88"/>
                <a:gd name="T9" fmla="*/ 111 h 111"/>
                <a:gd name="T10" fmla="*/ 0 w 88"/>
                <a:gd name="T11" fmla="*/ 111 h 111"/>
                <a:gd name="T12" fmla="*/ 0 w 88"/>
                <a:gd name="T13" fmla="*/ 107 h 111"/>
                <a:gd name="T14" fmla="*/ 14 w 88"/>
                <a:gd name="T15" fmla="*/ 89 h 111"/>
                <a:gd name="T16" fmla="*/ 14 w 88"/>
                <a:gd name="T17" fmla="*/ 18 h 111"/>
                <a:gd name="T18" fmla="*/ 0 w 88"/>
                <a:gd name="T19" fmla="*/ 3 h 111"/>
                <a:gd name="T20" fmla="*/ 0 w 88"/>
                <a:gd name="T21" fmla="*/ 0 h 111"/>
                <a:gd name="T22" fmla="*/ 53 w 88"/>
                <a:gd name="T23" fmla="*/ 0 h 111"/>
                <a:gd name="T24" fmla="*/ 53 w 88"/>
                <a:gd name="T25" fmla="*/ 3 h 111"/>
                <a:gd name="T26" fmla="*/ 39 w 88"/>
                <a:gd name="T27" fmla="*/ 18 h 111"/>
                <a:gd name="T28" fmla="*/ 39 w 88"/>
                <a:gd name="T29" fmla="*/ 9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8" h="111">
                  <a:moveTo>
                    <a:pt x="39" y="92"/>
                  </a:moveTo>
                  <a:cubicBezTo>
                    <a:pt x="39" y="102"/>
                    <a:pt x="43" y="104"/>
                    <a:pt x="56" y="104"/>
                  </a:cubicBezTo>
                  <a:cubicBezTo>
                    <a:pt x="70" y="104"/>
                    <a:pt x="76" y="100"/>
                    <a:pt x="85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13" y="104"/>
                    <a:pt x="14" y="101"/>
                    <a:pt x="14" y="8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9"/>
                    <a:pt x="12" y="6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2" y="6"/>
                    <a:pt x="39" y="8"/>
                    <a:pt x="39" y="18"/>
                  </a:cubicBezTo>
                  <a:lnTo>
                    <a:pt x="39" y="9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56"/>
            <p:cNvSpPr>
              <a:spLocks noEditPoints="1"/>
            </p:cNvSpPr>
            <p:nvPr/>
          </p:nvSpPr>
          <p:spPr bwMode="gray">
            <a:xfrm>
              <a:off x="4800601" y="3125788"/>
              <a:ext cx="173038" cy="450850"/>
            </a:xfrm>
            <a:custGeom>
              <a:avLst/>
              <a:gdLst>
                <a:gd name="T0" fmla="*/ 34 w 46"/>
                <a:gd name="T1" fmla="*/ 103 h 119"/>
                <a:gd name="T2" fmla="*/ 46 w 46"/>
                <a:gd name="T3" fmla="*/ 115 h 119"/>
                <a:gd name="T4" fmla="*/ 46 w 46"/>
                <a:gd name="T5" fmla="*/ 119 h 119"/>
                <a:gd name="T6" fmla="*/ 1 w 46"/>
                <a:gd name="T7" fmla="*/ 119 h 119"/>
                <a:gd name="T8" fmla="*/ 1 w 46"/>
                <a:gd name="T9" fmla="*/ 115 h 119"/>
                <a:gd name="T10" fmla="*/ 13 w 46"/>
                <a:gd name="T11" fmla="*/ 102 h 119"/>
                <a:gd name="T12" fmla="*/ 13 w 46"/>
                <a:gd name="T13" fmla="*/ 64 h 119"/>
                <a:gd name="T14" fmla="*/ 0 w 46"/>
                <a:gd name="T15" fmla="*/ 50 h 119"/>
                <a:gd name="T16" fmla="*/ 0 w 46"/>
                <a:gd name="T17" fmla="*/ 47 h 119"/>
                <a:gd name="T18" fmla="*/ 31 w 46"/>
                <a:gd name="T19" fmla="*/ 44 h 119"/>
                <a:gd name="T20" fmla="*/ 34 w 46"/>
                <a:gd name="T21" fmla="*/ 44 h 119"/>
                <a:gd name="T22" fmla="*/ 34 w 46"/>
                <a:gd name="T23" fmla="*/ 103 h 119"/>
                <a:gd name="T24" fmla="*/ 23 w 46"/>
                <a:gd name="T25" fmla="*/ 0 h 119"/>
                <a:gd name="T26" fmla="*/ 36 w 46"/>
                <a:gd name="T27" fmla="*/ 12 h 119"/>
                <a:gd name="T28" fmla="*/ 23 w 46"/>
                <a:gd name="T29" fmla="*/ 25 h 119"/>
                <a:gd name="T30" fmla="*/ 11 w 46"/>
                <a:gd name="T31" fmla="*/ 12 h 119"/>
                <a:gd name="T32" fmla="*/ 23 w 46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119">
                  <a:moveTo>
                    <a:pt x="34" y="103"/>
                  </a:moveTo>
                  <a:cubicBezTo>
                    <a:pt x="34" y="110"/>
                    <a:pt x="38" y="114"/>
                    <a:pt x="46" y="115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0" y="114"/>
                    <a:pt x="13" y="111"/>
                    <a:pt x="13" y="102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55"/>
                    <a:pt x="10" y="52"/>
                    <a:pt x="0" y="5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4" y="44"/>
                    <a:pt x="34" y="44"/>
                    <a:pt x="34" y="44"/>
                  </a:cubicBezTo>
                  <a:lnTo>
                    <a:pt x="34" y="103"/>
                  </a:lnTo>
                  <a:close/>
                  <a:moveTo>
                    <a:pt x="23" y="0"/>
                  </a:moveTo>
                  <a:cubicBezTo>
                    <a:pt x="30" y="0"/>
                    <a:pt x="36" y="5"/>
                    <a:pt x="36" y="12"/>
                  </a:cubicBezTo>
                  <a:cubicBezTo>
                    <a:pt x="36" y="19"/>
                    <a:pt x="30" y="25"/>
                    <a:pt x="23" y="25"/>
                  </a:cubicBezTo>
                  <a:cubicBezTo>
                    <a:pt x="17" y="25"/>
                    <a:pt x="11" y="19"/>
                    <a:pt x="11" y="12"/>
                  </a:cubicBezTo>
                  <a:cubicBezTo>
                    <a:pt x="11" y="5"/>
                    <a:pt x="17" y="0"/>
                    <a:pt x="23" y="0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57"/>
            <p:cNvSpPr>
              <a:spLocks noEditPoints="1"/>
            </p:cNvSpPr>
            <p:nvPr/>
          </p:nvSpPr>
          <p:spPr bwMode="gray">
            <a:xfrm>
              <a:off x="4984751" y="3125788"/>
              <a:ext cx="354013" cy="458788"/>
            </a:xfrm>
            <a:custGeom>
              <a:avLst/>
              <a:gdLst>
                <a:gd name="T0" fmla="*/ 32 w 94"/>
                <a:gd name="T1" fmla="*/ 62 h 121"/>
                <a:gd name="T2" fmla="*/ 49 w 94"/>
                <a:gd name="T3" fmla="*/ 54 h 121"/>
                <a:gd name="T4" fmla="*/ 70 w 94"/>
                <a:gd name="T5" fmla="*/ 84 h 121"/>
                <a:gd name="T6" fmla="*/ 43 w 94"/>
                <a:gd name="T7" fmla="*/ 116 h 121"/>
                <a:gd name="T8" fmla="*/ 32 w 94"/>
                <a:gd name="T9" fmla="*/ 104 h 121"/>
                <a:gd name="T10" fmla="*/ 32 w 94"/>
                <a:gd name="T11" fmla="*/ 62 h 121"/>
                <a:gd name="T12" fmla="*/ 32 w 94"/>
                <a:gd name="T13" fmla="*/ 0 h 121"/>
                <a:gd name="T14" fmla="*/ 29 w 94"/>
                <a:gd name="T15" fmla="*/ 0 h 121"/>
                <a:gd name="T16" fmla="*/ 0 w 94"/>
                <a:gd name="T17" fmla="*/ 2 h 121"/>
                <a:gd name="T18" fmla="*/ 0 w 94"/>
                <a:gd name="T19" fmla="*/ 5 h 121"/>
                <a:gd name="T20" fmla="*/ 10 w 94"/>
                <a:gd name="T21" fmla="*/ 16 h 121"/>
                <a:gd name="T22" fmla="*/ 10 w 94"/>
                <a:gd name="T23" fmla="*/ 119 h 121"/>
                <a:gd name="T24" fmla="*/ 45 w 94"/>
                <a:gd name="T25" fmla="*/ 121 h 121"/>
                <a:gd name="T26" fmla="*/ 94 w 94"/>
                <a:gd name="T27" fmla="*/ 81 h 121"/>
                <a:gd name="T28" fmla="*/ 59 w 94"/>
                <a:gd name="T29" fmla="*/ 44 h 121"/>
                <a:gd name="T30" fmla="*/ 32 w 94"/>
                <a:gd name="T31" fmla="*/ 57 h 121"/>
                <a:gd name="T32" fmla="*/ 32 w 94"/>
                <a:gd name="T3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4" h="121">
                  <a:moveTo>
                    <a:pt x="32" y="62"/>
                  </a:moveTo>
                  <a:cubicBezTo>
                    <a:pt x="39" y="56"/>
                    <a:pt x="43" y="54"/>
                    <a:pt x="49" y="54"/>
                  </a:cubicBezTo>
                  <a:cubicBezTo>
                    <a:pt x="61" y="54"/>
                    <a:pt x="70" y="66"/>
                    <a:pt x="70" y="84"/>
                  </a:cubicBezTo>
                  <a:cubicBezTo>
                    <a:pt x="70" y="107"/>
                    <a:pt x="59" y="116"/>
                    <a:pt x="43" y="116"/>
                  </a:cubicBezTo>
                  <a:cubicBezTo>
                    <a:pt x="35" y="116"/>
                    <a:pt x="32" y="113"/>
                    <a:pt x="32" y="104"/>
                  </a:cubicBezTo>
                  <a:lnTo>
                    <a:pt x="32" y="62"/>
                  </a:lnTo>
                  <a:close/>
                  <a:moveTo>
                    <a:pt x="32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6" y="6"/>
                    <a:pt x="10" y="10"/>
                    <a:pt x="10" y="16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21" y="121"/>
                    <a:pt x="32" y="121"/>
                    <a:pt x="45" y="121"/>
                  </a:cubicBezTo>
                  <a:cubicBezTo>
                    <a:pt x="80" y="121"/>
                    <a:pt x="94" y="103"/>
                    <a:pt x="94" y="81"/>
                  </a:cubicBezTo>
                  <a:cubicBezTo>
                    <a:pt x="94" y="60"/>
                    <a:pt x="79" y="44"/>
                    <a:pt x="59" y="44"/>
                  </a:cubicBezTo>
                  <a:cubicBezTo>
                    <a:pt x="49" y="44"/>
                    <a:pt x="40" y="48"/>
                    <a:pt x="32" y="57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58"/>
            <p:cNvSpPr>
              <a:spLocks noEditPoints="1"/>
            </p:cNvSpPr>
            <p:nvPr/>
          </p:nvSpPr>
          <p:spPr bwMode="gray">
            <a:xfrm>
              <a:off x="5368926" y="3292475"/>
              <a:ext cx="288925" cy="292100"/>
            </a:xfrm>
            <a:custGeom>
              <a:avLst/>
              <a:gdLst>
                <a:gd name="T0" fmla="*/ 23 w 77"/>
                <a:gd name="T1" fmla="*/ 28 h 77"/>
                <a:gd name="T2" fmla="*/ 38 w 77"/>
                <a:gd name="T3" fmla="*/ 5 h 77"/>
                <a:gd name="T4" fmla="*/ 54 w 77"/>
                <a:gd name="T5" fmla="*/ 28 h 77"/>
                <a:gd name="T6" fmla="*/ 23 w 77"/>
                <a:gd name="T7" fmla="*/ 28 h 77"/>
                <a:gd name="T8" fmla="*/ 77 w 77"/>
                <a:gd name="T9" fmla="*/ 33 h 77"/>
                <a:gd name="T10" fmla="*/ 40 w 77"/>
                <a:gd name="T11" fmla="*/ 0 h 77"/>
                <a:gd name="T12" fmla="*/ 0 w 77"/>
                <a:gd name="T13" fmla="*/ 39 h 77"/>
                <a:gd name="T14" fmla="*/ 39 w 77"/>
                <a:gd name="T15" fmla="*/ 77 h 77"/>
                <a:gd name="T16" fmla="*/ 77 w 77"/>
                <a:gd name="T17" fmla="*/ 53 h 77"/>
                <a:gd name="T18" fmla="*/ 74 w 77"/>
                <a:gd name="T19" fmla="*/ 53 h 77"/>
                <a:gd name="T20" fmla="*/ 48 w 77"/>
                <a:gd name="T21" fmla="*/ 68 h 77"/>
                <a:gd name="T22" fmla="*/ 23 w 77"/>
                <a:gd name="T23" fmla="*/ 33 h 77"/>
                <a:gd name="T24" fmla="*/ 77 w 77"/>
                <a:gd name="T25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77">
                  <a:moveTo>
                    <a:pt x="23" y="28"/>
                  </a:moveTo>
                  <a:cubicBezTo>
                    <a:pt x="24" y="14"/>
                    <a:pt x="29" y="5"/>
                    <a:pt x="38" y="5"/>
                  </a:cubicBezTo>
                  <a:cubicBezTo>
                    <a:pt x="47" y="5"/>
                    <a:pt x="53" y="15"/>
                    <a:pt x="54" y="28"/>
                  </a:cubicBezTo>
                  <a:lnTo>
                    <a:pt x="23" y="28"/>
                  </a:lnTo>
                  <a:close/>
                  <a:moveTo>
                    <a:pt x="77" y="33"/>
                  </a:moveTo>
                  <a:cubicBezTo>
                    <a:pt x="75" y="13"/>
                    <a:pt x="60" y="0"/>
                    <a:pt x="40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1"/>
                    <a:pt x="17" y="77"/>
                    <a:pt x="39" y="77"/>
                  </a:cubicBezTo>
                  <a:cubicBezTo>
                    <a:pt x="56" y="77"/>
                    <a:pt x="71" y="68"/>
                    <a:pt x="77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67" y="63"/>
                    <a:pt x="59" y="68"/>
                    <a:pt x="48" y="68"/>
                  </a:cubicBezTo>
                  <a:cubicBezTo>
                    <a:pt x="35" y="68"/>
                    <a:pt x="22" y="56"/>
                    <a:pt x="23" y="33"/>
                  </a:cubicBezTo>
                  <a:lnTo>
                    <a:pt x="77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9"/>
            <p:cNvSpPr>
              <a:spLocks/>
            </p:cNvSpPr>
            <p:nvPr/>
          </p:nvSpPr>
          <p:spPr bwMode="gray">
            <a:xfrm>
              <a:off x="5665788" y="3292475"/>
              <a:ext cx="269875" cy="284163"/>
            </a:xfrm>
            <a:custGeom>
              <a:avLst/>
              <a:gdLst>
                <a:gd name="T0" fmla="*/ 67 w 72"/>
                <a:gd name="T1" fmla="*/ 28 h 75"/>
                <a:gd name="T2" fmla="*/ 51 w 72"/>
                <a:gd name="T3" fmla="*/ 19 h 75"/>
                <a:gd name="T4" fmla="*/ 35 w 72"/>
                <a:gd name="T5" fmla="*/ 29 h 75"/>
                <a:gd name="T6" fmla="*/ 35 w 72"/>
                <a:gd name="T7" fmla="*/ 58 h 75"/>
                <a:gd name="T8" fmla="*/ 47 w 72"/>
                <a:gd name="T9" fmla="*/ 71 h 75"/>
                <a:gd name="T10" fmla="*/ 47 w 72"/>
                <a:gd name="T11" fmla="*/ 75 h 75"/>
                <a:gd name="T12" fmla="*/ 2 w 72"/>
                <a:gd name="T13" fmla="*/ 75 h 75"/>
                <a:gd name="T14" fmla="*/ 2 w 72"/>
                <a:gd name="T15" fmla="*/ 71 h 75"/>
                <a:gd name="T16" fmla="*/ 14 w 72"/>
                <a:gd name="T17" fmla="*/ 58 h 75"/>
                <a:gd name="T18" fmla="*/ 14 w 72"/>
                <a:gd name="T19" fmla="*/ 20 h 75"/>
                <a:gd name="T20" fmla="*/ 0 w 72"/>
                <a:gd name="T21" fmla="*/ 6 h 75"/>
                <a:gd name="T22" fmla="*/ 0 w 72"/>
                <a:gd name="T23" fmla="*/ 3 h 75"/>
                <a:gd name="T24" fmla="*/ 32 w 72"/>
                <a:gd name="T25" fmla="*/ 0 h 75"/>
                <a:gd name="T26" fmla="*/ 35 w 72"/>
                <a:gd name="T27" fmla="*/ 0 h 75"/>
                <a:gd name="T28" fmla="*/ 35 w 72"/>
                <a:gd name="T29" fmla="*/ 23 h 75"/>
                <a:gd name="T30" fmla="*/ 35 w 72"/>
                <a:gd name="T31" fmla="*/ 23 h 75"/>
                <a:gd name="T32" fmla="*/ 59 w 72"/>
                <a:gd name="T33" fmla="*/ 0 h 75"/>
                <a:gd name="T34" fmla="*/ 72 w 72"/>
                <a:gd name="T35" fmla="*/ 6 h 75"/>
                <a:gd name="T36" fmla="*/ 67 w 72"/>
                <a:gd name="T37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5">
                  <a:moveTo>
                    <a:pt x="67" y="28"/>
                  </a:moveTo>
                  <a:cubicBezTo>
                    <a:pt x="61" y="22"/>
                    <a:pt x="56" y="19"/>
                    <a:pt x="51" y="19"/>
                  </a:cubicBezTo>
                  <a:cubicBezTo>
                    <a:pt x="44" y="19"/>
                    <a:pt x="40" y="21"/>
                    <a:pt x="35" y="2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67"/>
                    <a:pt x="37" y="69"/>
                    <a:pt x="47" y="7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1" y="69"/>
                    <a:pt x="14" y="66"/>
                    <a:pt x="14" y="58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1"/>
                    <a:pt x="10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2" y="7"/>
                    <a:pt x="50" y="0"/>
                    <a:pt x="59" y="0"/>
                  </a:cubicBezTo>
                  <a:cubicBezTo>
                    <a:pt x="64" y="0"/>
                    <a:pt x="68" y="2"/>
                    <a:pt x="72" y="6"/>
                  </a:cubicBezTo>
                  <a:lnTo>
                    <a:pt x="67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60"/>
            <p:cNvSpPr>
              <a:spLocks/>
            </p:cNvSpPr>
            <p:nvPr/>
          </p:nvSpPr>
          <p:spPr bwMode="gray">
            <a:xfrm>
              <a:off x="5943601" y="3198813"/>
              <a:ext cx="541338" cy="588963"/>
            </a:xfrm>
            <a:custGeom>
              <a:avLst/>
              <a:gdLst>
                <a:gd name="T0" fmla="*/ 114 w 144"/>
                <a:gd name="T1" fmla="*/ 28 h 156"/>
                <a:gd name="T2" fmla="*/ 114 w 144"/>
                <a:gd name="T3" fmla="*/ 31 h 156"/>
                <a:gd name="T4" fmla="*/ 119 w 144"/>
                <a:gd name="T5" fmla="*/ 54 h 156"/>
                <a:gd name="T6" fmla="*/ 109 w 144"/>
                <a:gd name="T7" fmla="*/ 77 h 156"/>
                <a:gd name="T8" fmla="*/ 94 w 144"/>
                <a:gd name="T9" fmla="*/ 46 h 156"/>
                <a:gd name="T10" fmla="*/ 97 w 144"/>
                <a:gd name="T11" fmla="*/ 31 h 156"/>
                <a:gd name="T12" fmla="*/ 97 w 144"/>
                <a:gd name="T13" fmla="*/ 28 h 156"/>
                <a:gd name="T14" fmla="*/ 56 w 144"/>
                <a:gd name="T15" fmla="*/ 28 h 156"/>
                <a:gd name="T16" fmla="*/ 55 w 144"/>
                <a:gd name="T17" fmla="*/ 28 h 156"/>
                <a:gd name="T18" fmla="*/ 34 w 144"/>
                <a:gd name="T19" fmla="*/ 28 h 156"/>
                <a:gd name="T20" fmla="*/ 34 w 144"/>
                <a:gd name="T21" fmla="*/ 0 h 156"/>
                <a:gd name="T22" fmla="*/ 30 w 144"/>
                <a:gd name="T23" fmla="*/ 0 h 156"/>
                <a:gd name="T24" fmla="*/ 0 w 144"/>
                <a:gd name="T25" fmla="*/ 30 h 156"/>
                <a:gd name="T26" fmla="*/ 0 w 144"/>
                <a:gd name="T27" fmla="*/ 34 h 156"/>
                <a:gd name="T28" fmla="*/ 13 w 144"/>
                <a:gd name="T29" fmla="*/ 34 h 156"/>
                <a:gd name="T30" fmla="*/ 13 w 144"/>
                <a:gd name="T31" fmla="*/ 80 h 156"/>
                <a:gd name="T32" fmla="*/ 37 w 144"/>
                <a:gd name="T33" fmla="*/ 102 h 156"/>
                <a:gd name="T34" fmla="*/ 60 w 144"/>
                <a:gd name="T35" fmla="*/ 90 h 156"/>
                <a:gd name="T36" fmla="*/ 58 w 144"/>
                <a:gd name="T37" fmla="*/ 88 h 156"/>
                <a:gd name="T38" fmla="*/ 47 w 144"/>
                <a:gd name="T39" fmla="*/ 93 h 156"/>
                <a:gd name="T40" fmla="*/ 34 w 144"/>
                <a:gd name="T41" fmla="*/ 75 h 156"/>
                <a:gd name="T42" fmla="*/ 34 w 144"/>
                <a:gd name="T43" fmla="*/ 34 h 156"/>
                <a:gd name="T44" fmla="*/ 53 w 144"/>
                <a:gd name="T45" fmla="*/ 34 h 156"/>
                <a:gd name="T46" fmla="*/ 71 w 144"/>
                <a:gd name="T47" fmla="*/ 47 h 156"/>
                <a:gd name="T48" fmla="*/ 97 w 144"/>
                <a:gd name="T49" fmla="*/ 102 h 156"/>
                <a:gd name="T50" fmla="*/ 68 w 144"/>
                <a:gd name="T51" fmla="*/ 136 h 156"/>
                <a:gd name="T52" fmla="*/ 58 w 144"/>
                <a:gd name="T53" fmla="*/ 134 h 156"/>
                <a:gd name="T54" fmla="*/ 54 w 144"/>
                <a:gd name="T55" fmla="*/ 155 h 156"/>
                <a:gd name="T56" fmla="*/ 60 w 144"/>
                <a:gd name="T57" fmla="*/ 156 h 156"/>
                <a:gd name="T58" fmla="*/ 90 w 144"/>
                <a:gd name="T59" fmla="*/ 132 h 156"/>
                <a:gd name="T60" fmla="*/ 127 w 144"/>
                <a:gd name="T61" fmla="*/ 50 h 156"/>
                <a:gd name="T62" fmla="*/ 144 w 144"/>
                <a:gd name="T63" fmla="*/ 31 h 156"/>
                <a:gd name="T64" fmla="*/ 144 w 144"/>
                <a:gd name="T65" fmla="*/ 28 h 156"/>
                <a:gd name="T66" fmla="*/ 114 w 144"/>
                <a:gd name="T67" fmla="*/ 2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4" h="156">
                  <a:moveTo>
                    <a:pt x="114" y="28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23" y="33"/>
                    <a:pt x="125" y="39"/>
                    <a:pt x="119" y="54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89" y="37"/>
                    <a:pt x="89" y="32"/>
                    <a:pt x="97" y="31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0" y="13"/>
                    <a:pt x="9" y="25"/>
                    <a:pt x="0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96"/>
                    <a:pt x="23" y="102"/>
                    <a:pt x="37" y="102"/>
                  </a:cubicBezTo>
                  <a:cubicBezTo>
                    <a:pt x="48" y="102"/>
                    <a:pt x="55" y="99"/>
                    <a:pt x="60" y="90"/>
                  </a:cubicBezTo>
                  <a:cubicBezTo>
                    <a:pt x="58" y="88"/>
                    <a:pt x="58" y="88"/>
                    <a:pt x="58" y="88"/>
                  </a:cubicBezTo>
                  <a:cubicBezTo>
                    <a:pt x="54" y="92"/>
                    <a:pt x="51" y="93"/>
                    <a:pt x="47" y="93"/>
                  </a:cubicBezTo>
                  <a:cubicBezTo>
                    <a:pt x="37" y="93"/>
                    <a:pt x="34" y="87"/>
                    <a:pt x="34" y="7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64" y="34"/>
                    <a:pt x="67" y="38"/>
                    <a:pt x="71" y="47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89" y="126"/>
                    <a:pt x="81" y="136"/>
                    <a:pt x="68" y="136"/>
                  </a:cubicBezTo>
                  <a:cubicBezTo>
                    <a:pt x="65" y="136"/>
                    <a:pt x="63" y="135"/>
                    <a:pt x="58" y="134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6" y="156"/>
                    <a:pt x="58" y="156"/>
                    <a:pt x="60" y="156"/>
                  </a:cubicBezTo>
                  <a:cubicBezTo>
                    <a:pt x="75" y="156"/>
                    <a:pt x="83" y="150"/>
                    <a:pt x="90" y="132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32" y="36"/>
                    <a:pt x="135" y="34"/>
                    <a:pt x="144" y="31"/>
                  </a:cubicBezTo>
                  <a:cubicBezTo>
                    <a:pt x="144" y="28"/>
                    <a:pt x="144" y="28"/>
                    <a:pt x="144" y="28"/>
                  </a:cubicBezTo>
                  <a:lnTo>
                    <a:pt x="114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61"/>
            <p:cNvSpPr>
              <a:spLocks/>
            </p:cNvSpPr>
            <p:nvPr/>
          </p:nvSpPr>
          <p:spPr bwMode="gray">
            <a:xfrm>
              <a:off x="6594476" y="3157538"/>
              <a:ext cx="619125" cy="419100"/>
            </a:xfrm>
            <a:custGeom>
              <a:avLst/>
              <a:gdLst>
                <a:gd name="T0" fmla="*/ 148 w 165"/>
                <a:gd name="T1" fmla="*/ 91 h 111"/>
                <a:gd name="T2" fmla="*/ 165 w 165"/>
                <a:gd name="T3" fmla="*/ 108 h 111"/>
                <a:gd name="T4" fmla="*/ 165 w 165"/>
                <a:gd name="T5" fmla="*/ 111 h 111"/>
                <a:gd name="T6" fmla="*/ 110 w 165"/>
                <a:gd name="T7" fmla="*/ 111 h 111"/>
                <a:gd name="T8" fmla="*/ 110 w 165"/>
                <a:gd name="T9" fmla="*/ 108 h 111"/>
                <a:gd name="T10" fmla="*/ 122 w 165"/>
                <a:gd name="T11" fmla="*/ 84 h 111"/>
                <a:gd name="T12" fmla="*/ 113 w 165"/>
                <a:gd name="T13" fmla="*/ 20 h 111"/>
                <a:gd name="T14" fmla="*/ 113 w 165"/>
                <a:gd name="T15" fmla="*/ 20 h 111"/>
                <a:gd name="T16" fmla="*/ 77 w 165"/>
                <a:gd name="T17" fmla="*/ 111 h 111"/>
                <a:gd name="T18" fmla="*/ 73 w 165"/>
                <a:gd name="T19" fmla="*/ 111 h 111"/>
                <a:gd name="T20" fmla="*/ 37 w 165"/>
                <a:gd name="T21" fmla="*/ 20 h 111"/>
                <a:gd name="T22" fmla="*/ 37 w 165"/>
                <a:gd name="T23" fmla="*/ 20 h 111"/>
                <a:gd name="T24" fmla="*/ 27 w 165"/>
                <a:gd name="T25" fmla="*/ 85 h 111"/>
                <a:gd name="T26" fmla="*/ 40 w 165"/>
                <a:gd name="T27" fmla="*/ 108 h 111"/>
                <a:gd name="T28" fmla="*/ 40 w 165"/>
                <a:gd name="T29" fmla="*/ 111 h 111"/>
                <a:gd name="T30" fmla="*/ 0 w 165"/>
                <a:gd name="T31" fmla="*/ 111 h 111"/>
                <a:gd name="T32" fmla="*/ 0 w 165"/>
                <a:gd name="T33" fmla="*/ 108 h 111"/>
                <a:gd name="T34" fmla="*/ 20 w 165"/>
                <a:gd name="T35" fmla="*/ 84 h 111"/>
                <a:gd name="T36" fmla="*/ 31 w 165"/>
                <a:gd name="T37" fmla="*/ 11 h 111"/>
                <a:gd name="T38" fmla="*/ 15 w 165"/>
                <a:gd name="T39" fmla="*/ 3 h 111"/>
                <a:gd name="T40" fmla="*/ 15 w 165"/>
                <a:gd name="T41" fmla="*/ 0 h 111"/>
                <a:gd name="T42" fmla="*/ 55 w 165"/>
                <a:gd name="T43" fmla="*/ 0 h 111"/>
                <a:gd name="T44" fmla="*/ 84 w 165"/>
                <a:gd name="T45" fmla="*/ 74 h 111"/>
                <a:gd name="T46" fmla="*/ 113 w 165"/>
                <a:gd name="T47" fmla="*/ 0 h 111"/>
                <a:gd name="T48" fmla="*/ 151 w 165"/>
                <a:gd name="T49" fmla="*/ 0 h 111"/>
                <a:gd name="T50" fmla="*/ 151 w 165"/>
                <a:gd name="T51" fmla="*/ 3 h 111"/>
                <a:gd name="T52" fmla="*/ 138 w 165"/>
                <a:gd name="T53" fmla="*/ 22 h 111"/>
                <a:gd name="T54" fmla="*/ 148 w 165"/>
                <a:gd name="T55" fmla="*/ 9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111">
                  <a:moveTo>
                    <a:pt x="148" y="91"/>
                  </a:moveTo>
                  <a:cubicBezTo>
                    <a:pt x="150" y="100"/>
                    <a:pt x="154" y="106"/>
                    <a:pt x="165" y="108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10" y="111"/>
                    <a:pt x="110" y="111"/>
                    <a:pt x="110" y="111"/>
                  </a:cubicBezTo>
                  <a:cubicBezTo>
                    <a:pt x="110" y="108"/>
                    <a:pt x="110" y="108"/>
                    <a:pt x="110" y="108"/>
                  </a:cubicBezTo>
                  <a:cubicBezTo>
                    <a:pt x="122" y="105"/>
                    <a:pt x="124" y="98"/>
                    <a:pt x="122" y="84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98"/>
                    <a:pt x="28" y="107"/>
                    <a:pt x="40" y="108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2" y="108"/>
                    <a:pt x="17" y="101"/>
                    <a:pt x="20" y="84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6" y="7"/>
                    <a:pt x="20" y="4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39" y="6"/>
                    <a:pt x="137" y="11"/>
                    <a:pt x="138" y="22"/>
                  </a:cubicBezTo>
                  <a:lnTo>
                    <a:pt x="148" y="9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62"/>
            <p:cNvSpPr>
              <a:spLocks/>
            </p:cNvSpPr>
            <p:nvPr/>
          </p:nvSpPr>
          <p:spPr bwMode="gray">
            <a:xfrm>
              <a:off x="7207251" y="3297238"/>
              <a:ext cx="360363" cy="290513"/>
            </a:xfrm>
            <a:custGeom>
              <a:avLst/>
              <a:gdLst>
                <a:gd name="T0" fmla="*/ 11 w 96"/>
                <a:gd name="T1" fmla="*/ 18 h 77"/>
                <a:gd name="T2" fmla="*/ 0 w 96"/>
                <a:gd name="T3" fmla="*/ 6 h 77"/>
                <a:gd name="T4" fmla="*/ 0 w 96"/>
                <a:gd name="T5" fmla="*/ 3 h 77"/>
                <a:gd name="T6" fmla="*/ 29 w 96"/>
                <a:gd name="T7" fmla="*/ 0 h 77"/>
                <a:gd name="T8" fmla="*/ 32 w 96"/>
                <a:gd name="T9" fmla="*/ 0 h 77"/>
                <a:gd name="T10" fmla="*/ 32 w 96"/>
                <a:gd name="T11" fmla="*/ 53 h 77"/>
                <a:gd name="T12" fmla="*/ 46 w 96"/>
                <a:gd name="T13" fmla="*/ 65 h 77"/>
                <a:gd name="T14" fmla="*/ 63 w 96"/>
                <a:gd name="T15" fmla="*/ 52 h 77"/>
                <a:gd name="T16" fmla="*/ 63 w 96"/>
                <a:gd name="T17" fmla="*/ 17 h 77"/>
                <a:gd name="T18" fmla="*/ 52 w 96"/>
                <a:gd name="T19" fmla="*/ 6 h 77"/>
                <a:gd name="T20" fmla="*/ 52 w 96"/>
                <a:gd name="T21" fmla="*/ 3 h 77"/>
                <a:gd name="T22" fmla="*/ 82 w 96"/>
                <a:gd name="T23" fmla="*/ 0 h 77"/>
                <a:gd name="T24" fmla="*/ 85 w 96"/>
                <a:gd name="T25" fmla="*/ 0 h 77"/>
                <a:gd name="T26" fmla="*/ 85 w 96"/>
                <a:gd name="T27" fmla="*/ 57 h 77"/>
                <a:gd name="T28" fmla="*/ 96 w 96"/>
                <a:gd name="T29" fmla="*/ 71 h 77"/>
                <a:gd name="T30" fmla="*/ 96 w 96"/>
                <a:gd name="T31" fmla="*/ 74 h 77"/>
                <a:gd name="T32" fmla="*/ 63 w 96"/>
                <a:gd name="T33" fmla="*/ 77 h 77"/>
                <a:gd name="T34" fmla="*/ 63 w 96"/>
                <a:gd name="T35" fmla="*/ 60 h 77"/>
                <a:gd name="T36" fmla="*/ 63 w 96"/>
                <a:gd name="T37" fmla="*/ 60 h 77"/>
                <a:gd name="T38" fmla="*/ 35 w 96"/>
                <a:gd name="T39" fmla="*/ 77 h 77"/>
                <a:gd name="T40" fmla="*/ 11 w 96"/>
                <a:gd name="T41" fmla="*/ 55 h 77"/>
                <a:gd name="T42" fmla="*/ 11 w 96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6" h="77">
                  <a:moveTo>
                    <a:pt x="11" y="18"/>
                  </a:moveTo>
                  <a:cubicBezTo>
                    <a:pt x="11" y="10"/>
                    <a:pt x="8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61"/>
                    <a:pt x="38" y="65"/>
                    <a:pt x="46" y="65"/>
                  </a:cubicBezTo>
                  <a:cubicBezTo>
                    <a:pt x="53" y="65"/>
                    <a:pt x="57" y="62"/>
                    <a:pt x="63" y="52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1"/>
                    <a:pt x="60" y="7"/>
                    <a:pt x="52" y="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5" y="66"/>
                    <a:pt x="87" y="69"/>
                    <a:pt x="96" y="71"/>
                  </a:cubicBezTo>
                  <a:cubicBezTo>
                    <a:pt x="96" y="74"/>
                    <a:pt x="96" y="74"/>
                    <a:pt x="96" y="74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5" y="72"/>
                    <a:pt x="46" y="77"/>
                    <a:pt x="35" y="77"/>
                  </a:cubicBezTo>
                  <a:cubicBezTo>
                    <a:pt x="20" y="77"/>
                    <a:pt x="11" y="69"/>
                    <a:pt x="11" y="55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63"/>
            <p:cNvSpPr>
              <a:spLocks/>
            </p:cNvSpPr>
            <p:nvPr/>
          </p:nvSpPr>
          <p:spPr bwMode="gray">
            <a:xfrm>
              <a:off x="7581901" y="3201988"/>
              <a:ext cx="225425" cy="385763"/>
            </a:xfrm>
            <a:custGeom>
              <a:avLst/>
              <a:gdLst>
                <a:gd name="T0" fmla="*/ 13 w 60"/>
                <a:gd name="T1" fmla="*/ 33 h 102"/>
                <a:gd name="T2" fmla="*/ 0 w 60"/>
                <a:gd name="T3" fmla="*/ 33 h 102"/>
                <a:gd name="T4" fmla="*/ 0 w 60"/>
                <a:gd name="T5" fmla="*/ 30 h 102"/>
                <a:gd name="T6" fmla="*/ 31 w 60"/>
                <a:gd name="T7" fmla="*/ 0 h 102"/>
                <a:gd name="T8" fmla="*/ 34 w 60"/>
                <a:gd name="T9" fmla="*/ 0 h 102"/>
                <a:gd name="T10" fmla="*/ 34 w 60"/>
                <a:gd name="T11" fmla="*/ 28 h 102"/>
                <a:gd name="T12" fmla="*/ 58 w 60"/>
                <a:gd name="T13" fmla="*/ 28 h 102"/>
                <a:gd name="T14" fmla="*/ 58 w 60"/>
                <a:gd name="T15" fmla="*/ 33 h 102"/>
                <a:gd name="T16" fmla="*/ 34 w 60"/>
                <a:gd name="T17" fmla="*/ 33 h 102"/>
                <a:gd name="T18" fmla="*/ 34 w 60"/>
                <a:gd name="T19" fmla="*/ 75 h 102"/>
                <a:gd name="T20" fmla="*/ 47 w 60"/>
                <a:gd name="T21" fmla="*/ 93 h 102"/>
                <a:gd name="T22" fmla="*/ 58 w 60"/>
                <a:gd name="T23" fmla="*/ 87 h 102"/>
                <a:gd name="T24" fmla="*/ 60 w 60"/>
                <a:gd name="T25" fmla="*/ 89 h 102"/>
                <a:gd name="T26" fmla="*/ 37 w 60"/>
                <a:gd name="T27" fmla="*/ 102 h 102"/>
                <a:gd name="T28" fmla="*/ 13 w 60"/>
                <a:gd name="T29" fmla="*/ 79 h 102"/>
                <a:gd name="T30" fmla="*/ 13 w 60"/>
                <a:gd name="T31" fmla="*/ 3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" h="102">
                  <a:moveTo>
                    <a:pt x="13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21" y="13"/>
                    <a:pt x="3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86"/>
                    <a:pt x="37" y="93"/>
                    <a:pt x="47" y="93"/>
                  </a:cubicBezTo>
                  <a:cubicBezTo>
                    <a:pt x="51" y="93"/>
                    <a:pt x="54" y="91"/>
                    <a:pt x="58" y="87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55" y="98"/>
                    <a:pt x="48" y="102"/>
                    <a:pt x="37" y="102"/>
                  </a:cubicBezTo>
                  <a:cubicBezTo>
                    <a:pt x="24" y="102"/>
                    <a:pt x="13" y="96"/>
                    <a:pt x="13" y="79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64"/>
            <p:cNvSpPr>
              <a:spLocks/>
            </p:cNvSpPr>
            <p:nvPr/>
          </p:nvSpPr>
          <p:spPr bwMode="gray">
            <a:xfrm>
              <a:off x="7807326" y="3297238"/>
              <a:ext cx="365125" cy="290513"/>
            </a:xfrm>
            <a:custGeom>
              <a:avLst/>
              <a:gdLst>
                <a:gd name="T0" fmla="*/ 12 w 97"/>
                <a:gd name="T1" fmla="*/ 18 h 77"/>
                <a:gd name="T2" fmla="*/ 0 w 97"/>
                <a:gd name="T3" fmla="*/ 6 h 77"/>
                <a:gd name="T4" fmla="*/ 0 w 97"/>
                <a:gd name="T5" fmla="*/ 3 h 77"/>
                <a:gd name="T6" fmla="*/ 30 w 97"/>
                <a:gd name="T7" fmla="*/ 0 h 77"/>
                <a:gd name="T8" fmla="*/ 33 w 97"/>
                <a:gd name="T9" fmla="*/ 0 h 77"/>
                <a:gd name="T10" fmla="*/ 33 w 97"/>
                <a:gd name="T11" fmla="*/ 53 h 77"/>
                <a:gd name="T12" fmla="*/ 46 w 97"/>
                <a:gd name="T13" fmla="*/ 65 h 77"/>
                <a:gd name="T14" fmla="*/ 64 w 97"/>
                <a:gd name="T15" fmla="*/ 52 h 77"/>
                <a:gd name="T16" fmla="*/ 64 w 97"/>
                <a:gd name="T17" fmla="*/ 17 h 77"/>
                <a:gd name="T18" fmla="*/ 53 w 97"/>
                <a:gd name="T19" fmla="*/ 6 h 77"/>
                <a:gd name="T20" fmla="*/ 53 w 97"/>
                <a:gd name="T21" fmla="*/ 3 h 77"/>
                <a:gd name="T22" fmla="*/ 82 w 97"/>
                <a:gd name="T23" fmla="*/ 0 h 77"/>
                <a:gd name="T24" fmla="*/ 86 w 97"/>
                <a:gd name="T25" fmla="*/ 0 h 77"/>
                <a:gd name="T26" fmla="*/ 86 w 97"/>
                <a:gd name="T27" fmla="*/ 57 h 77"/>
                <a:gd name="T28" fmla="*/ 97 w 97"/>
                <a:gd name="T29" fmla="*/ 71 h 77"/>
                <a:gd name="T30" fmla="*/ 97 w 97"/>
                <a:gd name="T31" fmla="*/ 74 h 77"/>
                <a:gd name="T32" fmla="*/ 64 w 97"/>
                <a:gd name="T33" fmla="*/ 77 h 77"/>
                <a:gd name="T34" fmla="*/ 64 w 97"/>
                <a:gd name="T35" fmla="*/ 60 h 77"/>
                <a:gd name="T36" fmla="*/ 64 w 97"/>
                <a:gd name="T37" fmla="*/ 60 h 77"/>
                <a:gd name="T38" fmla="*/ 35 w 97"/>
                <a:gd name="T39" fmla="*/ 77 h 77"/>
                <a:gd name="T40" fmla="*/ 12 w 97"/>
                <a:gd name="T41" fmla="*/ 55 h 77"/>
                <a:gd name="T42" fmla="*/ 12 w 97"/>
                <a:gd name="T43" fmla="*/ 1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77">
                  <a:moveTo>
                    <a:pt x="12" y="18"/>
                  </a:moveTo>
                  <a:cubicBezTo>
                    <a:pt x="12" y="10"/>
                    <a:pt x="9" y="7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1"/>
                    <a:pt x="39" y="65"/>
                    <a:pt x="46" y="65"/>
                  </a:cubicBezTo>
                  <a:cubicBezTo>
                    <a:pt x="54" y="65"/>
                    <a:pt x="58" y="62"/>
                    <a:pt x="64" y="5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1"/>
                    <a:pt x="60" y="7"/>
                    <a:pt x="53" y="6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66"/>
                    <a:pt x="88" y="69"/>
                    <a:pt x="97" y="71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56" y="72"/>
                    <a:pt x="47" y="77"/>
                    <a:pt x="35" y="77"/>
                  </a:cubicBezTo>
                  <a:cubicBezTo>
                    <a:pt x="21" y="77"/>
                    <a:pt x="12" y="69"/>
                    <a:pt x="12" y="55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65"/>
            <p:cNvSpPr>
              <a:spLocks noEditPoints="1"/>
            </p:cNvSpPr>
            <p:nvPr/>
          </p:nvSpPr>
          <p:spPr bwMode="gray">
            <a:xfrm>
              <a:off x="8183563" y="3297238"/>
              <a:ext cx="304800" cy="290513"/>
            </a:xfrm>
            <a:custGeom>
              <a:avLst/>
              <a:gdLst>
                <a:gd name="T0" fmla="*/ 46 w 81"/>
                <a:gd name="T1" fmla="*/ 62 h 77"/>
                <a:gd name="T2" fmla="*/ 33 w 81"/>
                <a:gd name="T3" fmla="*/ 69 h 77"/>
                <a:gd name="T4" fmla="*/ 23 w 81"/>
                <a:gd name="T5" fmla="*/ 56 h 77"/>
                <a:gd name="T6" fmla="*/ 46 w 81"/>
                <a:gd name="T7" fmla="*/ 35 h 77"/>
                <a:gd name="T8" fmla="*/ 46 w 81"/>
                <a:gd name="T9" fmla="*/ 62 h 77"/>
                <a:gd name="T10" fmla="*/ 68 w 81"/>
                <a:gd name="T11" fmla="*/ 27 h 77"/>
                <a:gd name="T12" fmla="*/ 36 w 81"/>
                <a:gd name="T13" fmla="*/ 0 h 77"/>
                <a:gd name="T14" fmla="*/ 4 w 81"/>
                <a:gd name="T15" fmla="*/ 24 h 77"/>
                <a:gd name="T16" fmla="*/ 7 w 81"/>
                <a:gd name="T17" fmla="*/ 24 h 77"/>
                <a:gd name="T18" fmla="*/ 28 w 81"/>
                <a:gd name="T19" fmla="*/ 12 h 77"/>
                <a:gd name="T20" fmla="*/ 46 w 81"/>
                <a:gd name="T21" fmla="*/ 31 h 77"/>
                <a:gd name="T22" fmla="*/ 0 w 81"/>
                <a:gd name="T23" fmla="*/ 58 h 77"/>
                <a:gd name="T24" fmla="*/ 22 w 81"/>
                <a:gd name="T25" fmla="*/ 77 h 77"/>
                <a:gd name="T26" fmla="*/ 44 w 81"/>
                <a:gd name="T27" fmla="*/ 69 h 77"/>
                <a:gd name="T28" fmla="*/ 46 w 81"/>
                <a:gd name="T29" fmla="*/ 67 h 77"/>
                <a:gd name="T30" fmla="*/ 63 w 81"/>
                <a:gd name="T31" fmla="*/ 77 h 77"/>
                <a:gd name="T32" fmla="*/ 81 w 81"/>
                <a:gd name="T33" fmla="*/ 63 h 77"/>
                <a:gd name="T34" fmla="*/ 78 w 81"/>
                <a:gd name="T35" fmla="*/ 63 h 77"/>
                <a:gd name="T36" fmla="*/ 72 w 81"/>
                <a:gd name="T37" fmla="*/ 70 h 77"/>
                <a:gd name="T38" fmla="*/ 68 w 81"/>
                <a:gd name="T39" fmla="*/ 60 h 77"/>
                <a:gd name="T40" fmla="*/ 68 w 81"/>
                <a:gd name="T41" fmla="*/ 2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1" h="77">
                  <a:moveTo>
                    <a:pt x="46" y="62"/>
                  </a:moveTo>
                  <a:cubicBezTo>
                    <a:pt x="41" y="67"/>
                    <a:pt x="37" y="69"/>
                    <a:pt x="33" y="69"/>
                  </a:cubicBezTo>
                  <a:cubicBezTo>
                    <a:pt x="27" y="69"/>
                    <a:pt x="23" y="64"/>
                    <a:pt x="23" y="56"/>
                  </a:cubicBezTo>
                  <a:cubicBezTo>
                    <a:pt x="23" y="47"/>
                    <a:pt x="28" y="42"/>
                    <a:pt x="46" y="35"/>
                  </a:cubicBezTo>
                  <a:lnTo>
                    <a:pt x="46" y="62"/>
                  </a:lnTo>
                  <a:close/>
                  <a:moveTo>
                    <a:pt x="68" y="27"/>
                  </a:moveTo>
                  <a:cubicBezTo>
                    <a:pt x="68" y="7"/>
                    <a:pt x="52" y="0"/>
                    <a:pt x="36" y="0"/>
                  </a:cubicBezTo>
                  <a:cubicBezTo>
                    <a:pt x="19" y="0"/>
                    <a:pt x="8" y="9"/>
                    <a:pt x="4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2" y="16"/>
                    <a:pt x="19" y="12"/>
                    <a:pt x="28" y="12"/>
                  </a:cubicBezTo>
                  <a:cubicBezTo>
                    <a:pt x="41" y="12"/>
                    <a:pt x="46" y="18"/>
                    <a:pt x="46" y="31"/>
                  </a:cubicBezTo>
                  <a:cubicBezTo>
                    <a:pt x="29" y="37"/>
                    <a:pt x="0" y="39"/>
                    <a:pt x="0" y="58"/>
                  </a:cubicBezTo>
                  <a:cubicBezTo>
                    <a:pt x="0" y="69"/>
                    <a:pt x="10" y="77"/>
                    <a:pt x="22" y="77"/>
                  </a:cubicBezTo>
                  <a:cubicBezTo>
                    <a:pt x="31" y="77"/>
                    <a:pt x="37" y="75"/>
                    <a:pt x="44" y="69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50" y="74"/>
                    <a:pt x="55" y="77"/>
                    <a:pt x="63" y="77"/>
                  </a:cubicBezTo>
                  <a:cubicBezTo>
                    <a:pt x="74" y="77"/>
                    <a:pt x="80" y="72"/>
                    <a:pt x="81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7" y="68"/>
                    <a:pt x="75" y="70"/>
                    <a:pt x="72" y="70"/>
                  </a:cubicBezTo>
                  <a:cubicBezTo>
                    <a:pt x="69" y="70"/>
                    <a:pt x="68" y="67"/>
                    <a:pt x="68" y="60"/>
                  </a:cubicBezTo>
                  <a:lnTo>
                    <a:pt x="68" y="27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66"/>
            <p:cNvSpPr>
              <a:spLocks/>
            </p:cNvSpPr>
            <p:nvPr/>
          </p:nvSpPr>
          <p:spPr bwMode="gray">
            <a:xfrm>
              <a:off x="8491538" y="3125788"/>
              <a:ext cx="180975" cy="450850"/>
            </a:xfrm>
            <a:custGeom>
              <a:avLst/>
              <a:gdLst>
                <a:gd name="T0" fmla="*/ 14 w 48"/>
                <a:gd name="T1" fmla="*/ 20 h 119"/>
                <a:gd name="T2" fmla="*/ 0 w 48"/>
                <a:gd name="T3" fmla="*/ 6 h 119"/>
                <a:gd name="T4" fmla="*/ 0 w 48"/>
                <a:gd name="T5" fmla="*/ 3 h 119"/>
                <a:gd name="T6" fmla="*/ 32 w 48"/>
                <a:gd name="T7" fmla="*/ 0 h 119"/>
                <a:gd name="T8" fmla="*/ 35 w 48"/>
                <a:gd name="T9" fmla="*/ 0 h 119"/>
                <a:gd name="T10" fmla="*/ 35 w 48"/>
                <a:gd name="T11" fmla="*/ 102 h 119"/>
                <a:gd name="T12" fmla="*/ 48 w 48"/>
                <a:gd name="T13" fmla="*/ 116 h 119"/>
                <a:gd name="T14" fmla="*/ 48 w 48"/>
                <a:gd name="T15" fmla="*/ 119 h 119"/>
                <a:gd name="T16" fmla="*/ 0 w 48"/>
                <a:gd name="T17" fmla="*/ 119 h 119"/>
                <a:gd name="T18" fmla="*/ 0 w 48"/>
                <a:gd name="T19" fmla="*/ 116 h 119"/>
                <a:gd name="T20" fmla="*/ 14 w 48"/>
                <a:gd name="T21" fmla="*/ 102 h 119"/>
                <a:gd name="T22" fmla="*/ 14 w 48"/>
                <a:gd name="T23" fmla="*/ 2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119">
                  <a:moveTo>
                    <a:pt x="14" y="20"/>
                  </a:moveTo>
                  <a:cubicBezTo>
                    <a:pt x="14" y="10"/>
                    <a:pt x="10" y="6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11"/>
                    <a:pt x="37" y="114"/>
                    <a:pt x="48" y="116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" y="114"/>
                    <a:pt x="14" y="111"/>
                    <a:pt x="14" y="102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67"/>
            <p:cNvSpPr>
              <a:spLocks/>
            </p:cNvSpPr>
            <p:nvPr/>
          </p:nvSpPr>
          <p:spPr bwMode="gray">
            <a:xfrm>
              <a:off x="3387726" y="2736850"/>
              <a:ext cx="981075" cy="1308100"/>
            </a:xfrm>
            <a:custGeom>
              <a:avLst/>
              <a:gdLst>
                <a:gd name="T0" fmla="*/ 258 w 261"/>
                <a:gd name="T1" fmla="*/ 146 h 346"/>
                <a:gd name="T2" fmla="*/ 215 w 261"/>
                <a:gd name="T3" fmla="*/ 141 h 346"/>
                <a:gd name="T4" fmla="*/ 226 w 261"/>
                <a:gd name="T5" fmla="*/ 107 h 346"/>
                <a:gd name="T6" fmla="*/ 203 w 261"/>
                <a:gd name="T7" fmla="*/ 125 h 346"/>
                <a:gd name="T8" fmla="*/ 164 w 261"/>
                <a:gd name="T9" fmla="*/ 101 h 346"/>
                <a:gd name="T10" fmla="*/ 156 w 261"/>
                <a:gd name="T11" fmla="*/ 75 h 346"/>
                <a:gd name="T12" fmla="*/ 150 w 261"/>
                <a:gd name="T13" fmla="*/ 98 h 346"/>
                <a:gd name="T14" fmla="*/ 98 w 261"/>
                <a:gd name="T15" fmla="*/ 105 h 346"/>
                <a:gd name="T16" fmla="*/ 82 w 261"/>
                <a:gd name="T17" fmla="*/ 115 h 346"/>
                <a:gd name="T18" fmla="*/ 82 w 261"/>
                <a:gd name="T19" fmla="*/ 79 h 346"/>
                <a:gd name="T20" fmla="*/ 78 w 261"/>
                <a:gd name="T21" fmla="*/ 53 h 346"/>
                <a:gd name="T22" fmla="*/ 76 w 261"/>
                <a:gd name="T23" fmla="*/ 45 h 346"/>
                <a:gd name="T24" fmla="*/ 71 w 261"/>
                <a:gd name="T25" fmla="*/ 42 h 346"/>
                <a:gd name="T26" fmla="*/ 98 w 261"/>
                <a:gd name="T27" fmla="*/ 16 h 346"/>
                <a:gd name="T28" fmla="*/ 83 w 261"/>
                <a:gd name="T29" fmla="*/ 9 h 346"/>
                <a:gd name="T30" fmla="*/ 68 w 261"/>
                <a:gd name="T31" fmla="*/ 0 h 346"/>
                <a:gd name="T32" fmla="*/ 40 w 261"/>
                <a:gd name="T33" fmla="*/ 3 h 346"/>
                <a:gd name="T34" fmla="*/ 19 w 261"/>
                <a:gd name="T35" fmla="*/ 40 h 346"/>
                <a:gd name="T36" fmla="*/ 6 w 261"/>
                <a:gd name="T37" fmla="*/ 45 h 346"/>
                <a:gd name="T38" fmla="*/ 1 w 261"/>
                <a:gd name="T39" fmla="*/ 69 h 346"/>
                <a:gd name="T40" fmla="*/ 13 w 261"/>
                <a:gd name="T41" fmla="*/ 99 h 346"/>
                <a:gd name="T42" fmla="*/ 16 w 261"/>
                <a:gd name="T43" fmla="*/ 108 h 346"/>
                <a:gd name="T44" fmla="*/ 24 w 261"/>
                <a:gd name="T45" fmla="*/ 124 h 346"/>
                <a:gd name="T46" fmla="*/ 28 w 261"/>
                <a:gd name="T47" fmla="*/ 137 h 346"/>
                <a:gd name="T48" fmla="*/ 34 w 261"/>
                <a:gd name="T49" fmla="*/ 146 h 346"/>
                <a:gd name="T50" fmla="*/ 47 w 261"/>
                <a:gd name="T51" fmla="*/ 148 h 346"/>
                <a:gd name="T52" fmla="*/ 37 w 261"/>
                <a:gd name="T53" fmla="*/ 229 h 346"/>
                <a:gd name="T54" fmla="*/ 73 w 261"/>
                <a:gd name="T55" fmla="*/ 333 h 346"/>
                <a:gd name="T56" fmla="*/ 96 w 261"/>
                <a:gd name="T57" fmla="*/ 311 h 346"/>
                <a:gd name="T58" fmla="*/ 121 w 261"/>
                <a:gd name="T59" fmla="*/ 288 h 346"/>
                <a:gd name="T60" fmla="*/ 123 w 261"/>
                <a:gd name="T61" fmla="*/ 296 h 346"/>
                <a:gd name="T62" fmla="*/ 94 w 261"/>
                <a:gd name="T63" fmla="*/ 346 h 346"/>
                <a:gd name="T64" fmla="*/ 235 w 261"/>
                <a:gd name="T65" fmla="*/ 259 h 346"/>
                <a:gd name="T66" fmla="*/ 231 w 261"/>
                <a:gd name="T67" fmla="*/ 181 h 346"/>
                <a:gd name="T68" fmla="*/ 261 w 261"/>
                <a:gd name="T69" fmla="*/ 14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1" h="346">
                  <a:moveTo>
                    <a:pt x="261" y="146"/>
                  </a:moveTo>
                  <a:cubicBezTo>
                    <a:pt x="260" y="145"/>
                    <a:pt x="258" y="146"/>
                    <a:pt x="258" y="146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2" y="152"/>
                    <a:pt x="219" y="146"/>
                    <a:pt x="215" y="141"/>
                  </a:cubicBezTo>
                  <a:cubicBezTo>
                    <a:pt x="226" y="111"/>
                    <a:pt x="226" y="111"/>
                    <a:pt x="226" y="111"/>
                  </a:cubicBezTo>
                  <a:cubicBezTo>
                    <a:pt x="226" y="111"/>
                    <a:pt x="227" y="108"/>
                    <a:pt x="226" y="107"/>
                  </a:cubicBezTo>
                  <a:cubicBezTo>
                    <a:pt x="225" y="107"/>
                    <a:pt x="223" y="109"/>
                    <a:pt x="223" y="109"/>
                  </a:cubicBezTo>
                  <a:cubicBezTo>
                    <a:pt x="203" y="125"/>
                    <a:pt x="203" y="125"/>
                    <a:pt x="203" y="125"/>
                  </a:cubicBezTo>
                  <a:cubicBezTo>
                    <a:pt x="196" y="117"/>
                    <a:pt x="187" y="110"/>
                    <a:pt x="176" y="105"/>
                  </a:cubicBezTo>
                  <a:cubicBezTo>
                    <a:pt x="173" y="104"/>
                    <a:pt x="169" y="102"/>
                    <a:pt x="164" y="10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5"/>
                    <a:pt x="156" y="75"/>
                  </a:cubicBezTo>
                  <a:cubicBezTo>
                    <a:pt x="155" y="75"/>
                    <a:pt x="154" y="77"/>
                    <a:pt x="154" y="77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6" y="98"/>
                    <a:pt x="142" y="97"/>
                    <a:pt x="137" y="97"/>
                  </a:cubicBezTo>
                  <a:cubicBezTo>
                    <a:pt x="122" y="97"/>
                    <a:pt x="109" y="100"/>
                    <a:pt x="98" y="105"/>
                  </a:cubicBezTo>
                  <a:cubicBezTo>
                    <a:pt x="93" y="107"/>
                    <a:pt x="89" y="110"/>
                    <a:pt x="84" y="113"/>
                  </a:cubicBezTo>
                  <a:cubicBezTo>
                    <a:pt x="84" y="113"/>
                    <a:pt x="83" y="114"/>
                    <a:pt x="82" y="115"/>
                  </a:cubicBezTo>
                  <a:cubicBezTo>
                    <a:pt x="78" y="104"/>
                    <a:pt x="75" y="96"/>
                    <a:pt x="74" y="93"/>
                  </a:cubicBezTo>
                  <a:cubicBezTo>
                    <a:pt x="77" y="91"/>
                    <a:pt x="81" y="84"/>
                    <a:pt x="82" y="79"/>
                  </a:cubicBezTo>
                  <a:cubicBezTo>
                    <a:pt x="84" y="72"/>
                    <a:pt x="84" y="68"/>
                    <a:pt x="82" y="63"/>
                  </a:cubicBezTo>
                  <a:cubicBezTo>
                    <a:pt x="81" y="59"/>
                    <a:pt x="78" y="55"/>
                    <a:pt x="78" y="53"/>
                  </a:cubicBezTo>
                  <a:cubicBezTo>
                    <a:pt x="79" y="51"/>
                    <a:pt x="79" y="50"/>
                    <a:pt x="80" y="49"/>
                  </a:cubicBezTo>
                  <a:cubicBezTo>
                    <a:pt x="80" y="46"/>
                    <a:pt x="78" y="45"/>
                    <a:pt x="76" y="45"/>
                  </a:cubicBezTo>
                  <a:cubicBezTo>
                    <a:pt x="74" y="45"/>
                    <a:pt x="73" y="45"/>
                    <a:pt x="71" y="45"/>
                  </a:cubicBezTo>
                  <a:cubicBezTo>
                    <a:pt x="71" y="45"/>
                    <a:pt x="70" y="45"/>
                    <a:pt x="71" y="42"/>
                  </a:cubicBezTo>
                  <a:cubicBezTo>
                    <a:pt x="72" y="38"/>
                    <a:pt x="79" y="36"/>
                    <a:pt x="86" y="34"/>
                  </a:cubicBezTo>
                  <a:cubicBezTo>
                    <a:pt x="94" y="31"/>
                    <a:pt x="98" y="25"/>
                    <a:pt x="98" y="16"/>
                  </a:cubicBezTo>
                  <a:cubicBezTo>
                    <a:pt x="99" y="9"/>
                    <a:pt x="95" y="4"/>
                    <a:pt x="90" y="2"/>
                  </a:cubicBezTo>
                  <a:cubicBezTo>
                    <a:pt x="89" y="4"/>
                    <a:pt x="85" y="8"/>
                    <a:pt x="83" y="9"/>
                  </a:cubicBezTo>
                  <a:cubicBezTo>
                    <a:pt x="80" y="11"/>
                    <a:pt x="76" y="11"/>
                    <a:pt x="74" y="11"/>
                  </a:cubicBezTo>
                  <a:cubicBezTo>
                    <a:pt x="74" y="6"/>
                    <a:pt x="72" y="2"/>
                    <a:pt x="68" y="0"/>
                  </a:cubicBezTo>
                  <a:cubicBezTo>
                    <a:pt x="67" y="2"/>
                    <a:pt x="63" y="5"/>
                    <a:pt x="56" y="5"/>
                  </a:cubicBezTo>
                  <a:cubicBezTo>
                    <a:pt x="50" y="5"/>
                    <a:pt x="49" y="3"/>
                    <a:pt x="40" y="3"/>
                  </a:cubicBezTo>
                  <a:cubicBezTo>
                    <a:pt x="27" y="3"/>
                    <a:pt x="16" y="11"/>
                    <a:pt x="15" y="23"/>
                  </a:cubicBezTo>
                  <a:cubicBezTo>
                    <a:pt x="14" y="30"/>
                    <a:pt x="17" y="36"/>
                    <a:pt x="19" y="40"/>
                  </a:cubicBezTo>
                  <a:cubicBezTo>
                    <a:pt x="17" y="41"/>
                    <a:pt x="14" y="45"/>
                    <a:pt x="13" y="46"/>
                  </a:cubicBezTo>
                  <a:cubicBezTo>
                    <a:pt x="12" y="45"/>
                    <a:pt x="9" y="43"/>
                    <a:pt x="6" y="45"/>
                  </a:cubicBezTo>
                  <a:cubicBezTo>
                    <a:pt x="7" y="47"/>
                    <a:pt x="7" y="49"/>
                    <a:pt x="7" y="51"/>
                  </a:cubicBezTo>
                  <a:cubicBezTo>
                    <a:pt x="6" y="53"/>
                    <a:pt x="1" y="62"/>
                    <a:pt x="1" y="69"/>
                  </a:cubicBezTo>
                  <a:cubicBezTo>
                    <a:pt x="0" y="82"/>
                    <a:pt x="7" y="91"/>
                    <a:pt x="13" y="93"/>
                  </a:cubicBezTo>
                  <a:cubicBezTo>
                    <a:pt x="12" y="95"/>
                    <a:pt x="12" y="97"/>
                    <a:pt x="13" y="99"/>
                  </a:cubicBezTo>
                  <a:cubicBezTo>
                    <a:pt x="13" y="100"/>
                    <a:pt x="14" y="101"/>
                    <a:pt x="17" y="101"/>
                  </a:cubicBezTo>
                  <a:cubicBezTo>
                    <a:pt x="16" y="103"/>
                    <a:pt x="15" y="105"/>
                    <a:pt x="16" y="108"/>
                  </a:cubicBezTo>
                  <a:cubicBezTo>
                    <a:pt x="17" y="111"/>
                    <a:pt x="20" y="115"/>
                    <a:pt x="23" y="115"/>
                  </a:cubicBezTo>
                  <a:cubicBezTo>
                    <a:pt x="23" y="117"/>
                    <a:pt x="24" y="122"/>
                    <a:pt x="24" y="124"/>
                  </a:cubicBezTo>
                  <a:cubicBezTo>
                    <a:pt x="23" y="126"/>
                    <a:pt x="22" y="128"/>
                    <a:pt x="23" y="131"/>
                  </a:cubicBezTo>
                  <a:cubicBezTo>
                    <a:pt x="23" y="134"/>
                    <a:pt x="25" y="137"/>
                    <a:pt x="28" y="137"/>
                  </a:cubicBezTo>
                  <a:cubicBezTo>
                    <a:pt x="28" y="139"/>
                    <a:pt x="29" y="141"/>
                    <a:pt x="30" y="142"/>
                  </a:cubicBezTo>
                  <a:cubicBezTo>
                    <a:pt x="31" y="143"/>
                    <a:pt x="32" y="144"/>
                    <a:pt x="34" y="146"/>
                  </a:cubicBezTo>
                  <a:cubicBezTo>
                    <a:pt x="36" y="147"/>
                    <a:pt x="38" y="148"/>
                    <a:pt x="41" y="148"/>
                  </a:cubicBezTo>
                  <a:cubicBezTo>
                    <a:pt x="43" y="148"/>
                    <a:pt x="46" y="148"/>
                    <a:pt x="47" y="148"/>
                  </a:cubicBezTo>
                  <a:cubicBezTo>
                    <a:pt x="47" y="149"/>
                    <a:pt x="47" y="156"/>
                    <a:pt x="48" y="164"/>
                  </a:cubicBezTo>
                  <a:cubicBezTo>
                    <a:pt x="41" y="183"/>
                    <a:pt x="37" y="205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37" y="271"/>
                    <a:pt x="50" y="309"/>
                    <a:pt x="73" y="333"/>
                  </a:cubicBezTo>
                  <a:cubicBezTo>
                    <a:pt x="73" y="333"/>
                    <a:pt x="74" y="335"/>
                    <a:pt x="78" y="338"/>
                  </a:cubicBezTo>
                  <a:cubicBezTo>
                    <a:pt x="78" y="338"/>
                    <a:pt x="85" y="325"/>
                    <a:pt x="96" y="311"/>
                  </a:cubicBezTo>
                  <a:cubicBezTo>
                    <a:pt x="99" y="308"/>
                    <a:pt x="102" y="304"/>
                    <a:pt x="105" y="301"/>
                  </a:cubicBezTo>
                  <a:cubicBezTo>
                    <a:pt x="111" y="296"/>
                    <a:pt x="116" y="292"/>
                    <a:pt x="121" y="288"/>
                  </a:cubicBezTo>
                  <a:cubicBezTo>
                    <a:pt x="135" y="278"/>
                    <a:pt x="152" y="271"/>
                    <a:pt x="167" y="268"/>
                  </a:cubicBezTo>
                  <a:cubicBezTo>
                    <a:pt x="150" y="277"/>
                    <a:pt x="140" y="282"/>
                    <a:pt x="123" y="296"/>
                  </a:cubicBezTo>
                  <a:cubicBezTo>
                    <a:pt x="113" y="305"/>
                    <a:pt x="96" y="320"/>
                    <a:pt x="85" y="342"/>
                  </a:cubicBezTo>
                  <a:cubicBezTo>
                    <a:pt x="87" y="344"/>
                    <a:pt x="91" y="346"/>
                    <a:pt x="94" y="346"/>
                  </a:cubicBezTo>
                  <a:cubicBezTo>
                    <a:pt x="97" y="343"/>
                    <a:pt x="109" y="321"/>
                    <a:pt x="128" y="303"/>
                  </a:cubicBezTo>
                  <a:cubicBezTo>
                    <a:pt x="166" y="267"/>
                    <a:pt x="211" y="259"/>
                    <a:pt x="235" y="259"/>
                  </a:cubicBezTo>
                  <a:cubicBezTo>
                    <a:pt x="236" y="249"/>
                    <a:pt x="237" y="239"/>
                    <a:pt x="237" y="229"/>
                  </a:cubicBezTo>
                  <a:cubicBezTo>
                    <a:pt x="237" y="212"/>
                    <a:pt x="235" y="195"/>
                    <a:pt x="231" y="181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9" y="149"/>
                    <a:pt x="261" y="147"/>
                    <a:pt x="261" y="146"/>
                  </a:cubicBezTo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68"/>
            <p:cNvSpPr>
              <a:spLocks/>
            </p:cNvSpPr>
            <p:nvPr/>
          </p:nvSpPr>
          <p:spPr bwMode="gray">
            <a:xfrm>
              <a:off x="3505201" y="3119438"/>
              <a:ext cx="82550" cy="117475"/>
            </a:xfrm>
            <a:custGeom>
              <a:avLst/>
              <a:gdLst>
                <a:gd name="T0" fmla="*/ 20 w 22"/>
                <a:gd name="T1" fmla="*/ 31 h 31"/>
                <a:gd name="T2" fmla="*/ 11 w 22"/>
                <a:gd name="T3" fmla="*/ 28 h 31"/>
                <a:gd name="T4" fmla="*/ 1 w 22"/>
                <a:gd name="T5" fmla="*/ 31 h 31"/>
                <a:gd name="T6" fmla="*/ 0 w 22"/>
                <a:gd name="T7" fmla="*/ 26 h 31"/>
                <a:gd name="T8" fmla="*/ 2 w 22"/>
                <a:gd name="T9" fmla="*/ 24 h 31"/>
                <a:gd name="T10" fmla="*/ 1 w 22"/>
                <a:gd name="T11" fmla="*/ 6 h 31"/>
                <a:gd name="T12" fmla="*/ 8 w 22"/>
                <a:gd name="T13" fmla="*/ 2 h 31"/>
                <a:gd name="T14" fmla="*/ 10 w 22"/>
                <a:gd name="T15" fmla="*/ 0 h 31"/>
                <a:gd name="T16" fmla="*/ 17 w 22"/>
                <a:gd name="T17" fmla="*/ 7 h 31"/>
                <a:gd name="T18" fmla="*/ 19 w 22"/>
                <a:gd name="T19" fmla="*/ 15 h 31"/>
                <a:gd name="T20" fmla="*/ 19 w 22"/>
                <a:gd name="T21" fmla="*/ 25 h 31"/>
                <a:gd name="T22" fmla="*/ 21 w 22"/>
                <a:gd name="T23" fmla="*/ 28 h 31"/>
                <a:gd name="T24" fmla="*/ 20 w 22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1">
                  <a:moveTo>
                    <a:pt x="20" y="31"/>
                  </a:moveTo>
                  <a:cubicBezTo>
                    <a:pt x="19" y="30"/>
                    <a:pt x="14" y="28"/>
                    <a:pt x="11" y="28"/>
                  </a:cubicBezTo>
                  <a:cubicBezTo>
                    <a:pt x="7" y="28"/>
                    <a:pt x="4" y="29"/>
                    <a:pt x="1" y="31"/>
                  </a:cubicBezTo>
                  <a:cubicBezTo>
                    <a:pt x="0" y="30"/>
                    <a:pt x="0" y="28"/>
                    <a:pt x="0" y="26"/>
                  </a:cubicBezTo>
                  <a:cubicBezTo>
                    <a:pt x="1" y="25"/>
                    <a:pt x="2" y="24"/>
                    <a:pt x="2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6" y="3"/>
                    <a:pt x="8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2" y="1"/>
                    <a:pt x="15" y="4"/>
                    <a:pt x="17" y="7"/>
                  </a:cubicBezTo>
                  <a:cubicBezTo>
                    <a:pt x="18" y="9"/>
                    <a:pt x="19" y="12"/>
                    <a:pt x="19" y="15"/>
                  </a:cubicBezTo>
                  <a:cubicBezTo>
                    <a:pt x="20" y="18"/>
                    <a:pt x="20" y="21"/>
                    <a:pt x="19" y="25"/>
                  </a:cubicBezTo>
                  <a:cubicBezTo>
                    <a:pt x="20" y="25"/>
                    <a:pt x="21" y="26"/>
                    <a:pt x="21" y="28"/>
                  </a:cubicBezTo>
                  <a:cubicBezTo>
                    <a:pt x="22" y="29"/>
                    <a:pt x="21" y="30"/>
                    <a:pt x="2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9"/>
            <p:cNvSpPr>
              <a:spLocks/>
            </p:cNvSpPr>
            <p:nvPr/>
          </p:nvSpPr>
          <p:spPr bwMode="gray">
            <a:xfrm>
              <a:off x="4165601" y="3319463"/>
              <a:ext cx="161925" cy="128588"/>
            </a:xfrm>
            <a:custGeom>
              <a:avLst/>
              <a:gdLst>
                <a:gd name="T0" fmla="*/ 7 w 43"/>
                <a:gd name="T1" fmla="*/ 34 h 34"/>
                <a:gd name="T2" fmla="*/ 0 w 43"/>
                <a:gd name="T3" fmla="*/ 19 h 34"/>
                <a:gd name="T4" fmla="*/ 43 w 43"/>
                <a:gd name="T5" fmla="*/ 0 h 34"/>
                <a:gd name="T6" fmla="*/ 7 w 43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34">
                  <a:moveTo>
                    <a:pt x="7" y="34"/>
                  </a:moveTo>
                  <a:cubicBezTo>
                    <a:pt x="7" y="30"/>
                    <a:pt x="3" y="21"/>
                    <a:pt x="0" y="19"/>
                  </a:cubicBezTo>
                  <a:cubicBezTo>
                    <a:pt x="43" y="0"/>
                    <a:pt x="43" y="0"/>
                    <a:pt x="43" y="0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70"/>
            <p:cNvSpPr>
              <a:spLocks/>
            </p:cNvSpPr>
            <p:nvPr/>
          </p:nvSpPr>
          <p:spPr bwMode="gray">
            <a:xfrm>
              <a:off x="3756026" y="3179763"/>
              <a:ext cx="136525" cy="166688"/>
            </a:xfrm>
            <a:custGeom>
              <a:avLst/>
              <a:gdLst>
                <a:gd name="T0" fmla="*/ 0 w 36"/>
                <a:gd name="T1" fmla="*/ 0 h 44"/>
                <a:gd name="T2" fmla="*/ 36 w 36"/>
                <a:gd name="T3" fmla="*/ 33 h 44"/>
                <a:gd name="T4" fmla="*/ 26 w 36"/>
                <a:gd name="T5" fmla="*/ 44 h 44"/>
                <a:gd name="T6" fmla="*/ 0 w 36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4">
                  <a:moveTo>
                    <a:pt x="0" y="0"/>
                  </a:moveTo>
                  <a:cubicBezTo>
                    <a:pt x="36" y="33"/>
                    <a:pt x="36" y="33"/>
                    <a:pt x="36" y="33"/>
                  </a:cubicBezTo>
                  <a:cubicBezTo>
                    <a:pt x="32" y="35"/>
                    <a:pt x="27" y="40"/>
                    <a:pt x="26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71"/>
            <p:cNvSpPr>
              <a:spLocks/>
            </p:cNvSpPr>
            <p:nvPr/>
          </p:nvSpPr>
          <p:spPr bwMode="gray">
            <a:xfrm>
              <a:off x="3783013" y="3398838"/>
              <a:ext cx="52388" cy="68263"/>
            </a:xfrm>
            <a:custGeom>
              <a:avLst/>
              <a:gdLst>
                <a:gd name="T0" fmla="*/ 14 w 14"/>
                <a:gd name="T1" fmla="*/ 7 h 18"/>
                <a:gd name="T2" fmla="*/ 12 w 14"/>
                <a:gd name="T3" fmla="*/ 12 h 18"/>
                <a:gd name="T4" fmla="*/ 12 w 14"/>
                <a:gd name="T5" fmla="*/ 18 h 18"/>
                <a:gd name="T6" fmla="*/ 1 w 14"/>
                <a:gd name="T7" fmla="*/ 10 h 18"/>
                <a:gd name="T8" fmla="*/ 0 w 14"/>
                <a:gd name="T9" fmla="*/ 1 h 18"/>
                <a:gd name="T10" fmla="*/ 0 w 14"/>
                <a:gd name="T11" fmla="*/ 0 h 18"/>
                <a:gd name="T12" fmla="*/ 14 w 14"/>
                <a:gd name="T13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4" y="7"/>
                  </a:moveTo>
                  <a:cubicBezTo>
                    <a:pt x="13" y="9"/>
                    <a:pt x="12" y="10"/>
                    <a:pt x="12" y="12"/>
                  </a:cubicBezTo>
                  <a:cubicBezTo>
                    <a:pt x="11" y="15"/>
                    <a:pt x="12" y="16"/>
                    <a:pt x="12" y="1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0" y="3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72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19 w 66"/>
                <a:gd name="T1" fmla="*/ 106 h 159"/>
                <a:gd name="T2" fmla="*/ 15 w 66"/>
                <a:gd name="T3" fmla="*/ 36 h 159"/>
                <a:gd name="T4" fmla="*/ 19 w 66"/>
                <a:gd name="T5" fmla="*/ 34 h 159"/>
                <a:gd name="T6" fmla="*/ 19 w 66"/>
                <a:gd name="T7" fmla="*/ 33 h 159"/>
                <a:gd name="T8" fmla="*/ 12 w 66"/>
                <a:gd name="T9" fmla="*/ 30 h 159"/>
                <a:gd name="T10" fmla="*/ 11 w 66"/>
                <a:gd name="T11" fmla="*/ 10 h 159"/>
                <a:gd name="T12" fmla="*/ 3 w 66"/>
                <a:gd name="T13" fmla="*/ 7 h 159"/>
                <a:gd name="T14" fmla="*/ 2 w 66"/>
                <a:gd name="T15" fmla="*/ 0 h 159"/>
                <a:gd name="T16" fmla="*/ 13 w 66"/>
                <a:gd name="T17" fmla="*/ 3 h 159"/>
                <a:gd name="T18" fmla="*/ 17 w 66"/>
                <a:gd name="T19" fmla="*/ 5 h 159"/>
                <a:gd name="T20" fmla="*/ 22 w 66"/>
                <a:gd name="T21" fmla="*/ 7 h 159"/>
                <a:gd name="T22" fmla="*/ 23 w 66"/>
                <a:gd name="T23" fmla="*/ 11 h 159"/>
                <a:gd name="T24" fmla="*/ 57 w 66"/>
                <a:gd name="T25" fmla="*/ 98 h 159"/>
                <a:gd name="T26" fmla="*/ 60 w 66"/>
                <a:gd name="T27" fmla="*/ 114 h 159"/>
                <a:gd name="T28" fmla="*/ 66 w 66"/>
                <a:gd name="T29" fmla="*/ 128 h 159"/>
                <a:gd name="T30" fmla="*/ 48 w 66"/>
                <a:gd name="T31" fmla="*/ 136 h 159"/>
                <a:gd name="T32" fmla="*/ 36 w 66"/>
                <a:gd name="T33" fmla="*/ 159 h 159"/>
                <a:gd name="T34" fmla="*/ 19 w 66"/>
                <a:gd name="T35" fmla="*/ 10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19" y="106"/>
                  </a:moveTo>
                  <a:cubicBezTo>
                    <a:pt x="19" y="105"/>
                    <a:pt x="15" y="39"/>
                    <a:pt x="15" y="36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3"/>
                    <a:pt x="13" y="32"/>
                    <a:pt x="12" y="3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8" y="10"/>
                    <a:pt x="4" y="9"/>
                    <a:pt x="3" y="7"/>
                  </a:cubicBezTo>
                  <a:cubicBezTo>
                    <a:pt x="1" y="6"/>
                    <a:pt x="0" y="4"/>
                    <a:pt x="2" y="0"/>
                  </a:cubicBezTo>
                  <a:cubicBezTo>
                    <a:pt x="3" y="1"/>
                    <a:pt x="9" y="3"/>
                    <a:pt x="13" y="3"/>
                  </a:cubicBezTo>
                  <a:cubicBezTo>
                    <a:pt x="14" y="3"/>
                    <a:pt x="16" y="5"/>
                    <a:pt x="17" y="5"/>
                  </a:cubicBezTo>
                  <a:cubicBezTo>
                    <a:pt x="18" y="6"/>
                    <a:pt x="21" y="7"/>
                    <a:pt x="22" y="7"/>
                  </a:cubicBezTo>
                  <a:cubicBezTo>
                    <a:pt x="23" y="8"/>
                    <a:pt x="23" y="10"/>
                    <a:pt x="23" y="11"/>
                  </a:cubicBezTo>
                  <a:cubicBezTo>
                    <a:pt x="24" y="12"/>
                    <a:pt x="57" y="97"/>
                    <a:pt x="57" y="98"/>
                  </a:cubicBezTo>
                  <a:cubicBezTo>
                    <a:pt x="58" y="99"/>
                    <a:pt x="60" y="113"/>
                    <a:pt x="60" y="114"/>
                  </a:cubicBezTo>
                  <a:cubicBezTo>
                    <a:pt x="60" y="115"/>
                    <a:pt x="65" y="127"/>
                    <a:pt x="66" y="128"/>
                  </a:cubicBezTo>
                  <a:cubicBezTo>
                    <a:pt x="61" y="128"/>
                    <a:pt x="54" y="130"/>
                    <a:pt x="48" y="136"/>
                  </a:cubicBezTo>
                  <a:cubicBezTo>
                    <a:pt x="43" y="141"/>
                    <a:pt x="38" y="154"/>
                    <a:pt x="36" y="159"/>
                  </a:cubicBezTo>
                  <a:cubicBezTo>
                    <a:pt x="36" y="156"/>
                    <a:pt x="20" y="107"/>
                    <a:pt x="19" y="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73"/>
            <p:cNvSpPr>
              <a:spLocks/>
            </p:cNvSpPr>
            <p:nvPr/>
          </p:nvSpPr>
          <p:spPr bwMode="gray">
            <a:xfrm>
              <a:off x="3673476" y="3535363"/>
              <a:ext cx="206375" cy="407988"/>
            </a:xfrm>
            <a:custGeom>
              <a:avLst/>
              <a:gdLst>
                <a:gd name="T0" fmla="*/ 24 w 55"/>
                <a:gd name="T1" fmla="*/ 55 h 108"/>
                <a:gd name="T2" fmla="*/ 14 w 55"/>
                <a:gd name="T3" fmla="*/ 88 h 108"/>
                <a:gd name="T4" fmla="*/ 0 w 55"/>
                <a:gd name="T5" fmla="*/ 108 h 108"/>
                <a:gd name="T6" fmla="*/ 5 w 55"/>
                <a:gd name="T7" fmla="*/ 73 h 108"/>
                <a:gd name="T8" fmla="*/ 5 w 55"/>
                <a:gd name="T9" fmla="*/ 36 h 108"/>
                <a:gd name="T10" fmla="*/ 19 w 55"/>
                <a:gd name="T11" fmla="*/ 9 h 108"/>
                <a:gd name="T12" fmla="*/ 44 w 55"/>
                <a:gd name="T13" fmla="*/ 3 h 108"/>
                <a:gd name="T14" fmla="*/ 55 w 55"/>
                <a:gd name="T15" fmla="*/ 22 h 108"/>
                <a:gd name="T16" fmla="*/ 37 w 55"/>
                <a:gd name="T17" fmla="*/ 26 h 108"/>
                <a:gd name="T18" fmla="*/ 24 w 55"/>
                <a:gd name="T19" fmla="*/ 5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08">
                  <a:moveTo>
                    <a:pt x="24" y="55"/>
                  </a:moveTo>
                  <a:cubicBezTo>
                    <a:pt x="22" y="68"/>
                    <a:pt x="19" y="80"/>
                    <a:pt x="14" y="88"/>
                  </a:cubicBezTo>
                  <a:cubicBezTo>
                    <a:pt x="11" y="93"/>
                    <a:pt x="3" y="104"/>
                    <a:pt x="0" y="108"/>
                  </a:cubicBezTo>
                  <a:cubicBezTo>
                    <a:pt x="3" y="101"/>
                    <a:pt x="6" y="85"/>
                    <a:pt x="5" y="73"/>
                  </a:cubicBezTo>
                  <a:cubicBezTo>
                    <a:pt x="5" y="65"/>
                    <a:pt x="3" y="48"/>
                    <a:pt x="5" y="36"/>
                  </a:cubicBezTo>
                  <a:cubicBezTo>
                    <a:pt x="7" y="24"/>
                    <a:pt x="11" y="17"/>
                    <a:pt x="19" y="9"/>
                  </a:cubicBezTo>
                  <a:cubicBezTo>
                    <a:pt x="23" y="5"/>
                    <a:pt x="32" y="0"/>
                    <a:pt x="44" y="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49" y="21"/>
                    <a:pt x="42" y="22"/>
                    <a:pt x="37" y="26"/>
                  </a:cubicBezTo>
                  <a:cubicBezTo>
                    <a:pt x="28" y="33"/>
                    <a:pt x="25" y="42"/>
                    <a:pt x="2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74"/>
            <p:cNvSpPr>
              <a:spLocks/>
            </p:cNvSpPr>
            <p:nvPr/>
          </p:nvSpPr>
          <p:spPr bwMode="gray">
            <a:xfrm>
              <a:off x="3767138" y="3640138"/>
              <a:ext cx="180975" cy="201613"/>
            </a:xfrm>
            <a:custGeom>
              <a:avLst/>
              <a:gdLst>
                <a:gd name="T0" fmla="*/ 0 w 48"/>
                <a:gd name="T1" fmla="*/ 53 h 53"/>
                <a:gd name="T2" fmla="*/ 6 w 48"/>
                <a:gd name="T3" fmla="*/ 27 h 53"/>
                <a:gd name="T4" fmla="*/ 17 w 48"/>
                <a:gd name="T5" fmla="*/ 3 h 53"/>
                <a:gd name="T6" fmla="*/ 30 w 48"/>
                <a:gd name="T7" fmla="*/ 0 h 53"/>
                <a:gd name="T8" fmla="*/ 41 w 48"/>
                <a:gd name="T9" fmla="*/ 24 h 53"/>
                <a:gd name="T10" fmla="*/ 48 w 48"/>
                <a:gd name="T11" fmla="*/ 27 h 53"/>
                <a:gd name="T12" fmla="*/ 0 w 4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3">
                  <a:moveTo>
                    <a:pt x="0" y="53"/>
                  </a:moveTo>
                  <a:cubicBezTo>
                    <a:pt x="2" y="48"/>
                    <a:pt x="6" y="32"/>
                    <a:pt x="6" y="27"/>
                  </a:cubicBezTo>
                  <a:cubicBezTo>
                    <a:pt x="8" y="20"/>
                    <a:pt x="9" y="10"/>
                    <a:pt x="17" y="3"/>
                  </a:cubicBezTo>
                  <a:cubicBezTo>
                    <a:pt x="21" y="0"/>
                    <a:pt x="27" y="0"/>
                    <a:pt x="30" y="0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2" y="26"/>
                    <a:pt x="45" y="27"/>
                    <a:pt x="48" y="27"/>
                  </a:cubicBezTo>
                  <a:cubicBezTo>
                    <a:pt x="37" y="30"/>
                    <a:pt x="10" y="43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75"/>
            <p:cNvSpPr>
              <a:spLocks/>
            </p:cNvSpPr>
            <p:nvPr/>
          </p:nvSpPr>
          <p:spPr bwMode="gray">
            <a:xfrm>
              <a:off x="4124326" y="3530600"/>
              <a:ext cx="95250" cy="152400"/>
            </a:xfrm>
            <a:custGeom>
              <a:avLst/>
              <a:gdLst>
                <a:gd name="T0" fmla="*/ 2 w 25"/>
                <a:gd name="T1" fmla="*/ 8 h 40"/>
                <a:gd name="T2" fmla="*/ 2 w 25"/>
                <a:gd name="T3" fmla="*/ 16 h 40"/>
                <a:gd name="T4" fmla="*/ 9 w 25"/>
                <a:gd name="T5" fmla="*/ 29 h 40"/>
                <a:gd name="T6" fmla="*/ 14 w 25"/>
                <a:gd name="T7" fmla="*/ 40 h 40"/>
                <a:gd name="T8" fmla="*/ 25 w 25"/>
                <a:gd name="T9" fmla="*/ 40 h 40"/>
                <a:gd name="T10" fmla="*/ 11 w 25"/>
                <a:gd name="T11" fmla="*/ 14 h 40"/>
                <a:gd name="T12" fmla="*/ 11 w 25"/>
                <a:gd name="T13" fmla="*/ 0 h 40"/>
                <a:gd name="T14" fmla="*/ 2 w 25"/>
                <a:gd name="T15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2" y="8"/>
                  </a:moveTo>
                  <a:cubicBezTo>
                    <a:pt x="0" y="11"/>
                    <a:pt x="1" y="14"/>
                    <a:pt x="2" y="16"/>
                  </a:cubicBezTo>
                  <a:cubicBezTo>
                    <a:pt x="3" y="18"/>
                    <a:pt x="9" y="29"/>
                    <a:pt x="9" y="29"/>
                  </a:cubicBezTo>
                  <a:cubicBezTo>
                    <a:pt x="11" y="34"/>
                    <a:pt x="12" y="36"/>
                    <a:pt x="14" y="40"/>
                  </a:cubicBezTo>
                  <a:cubicBezTo>
                    <a:pt x="17" y="40"/>
                    <a:pt x="21" y="40"/>
                    <a:pt x="25" y="40"/>
                  </a:cubicBezTo>
                  <a:cubicBezTo>
                    <a:pt x="21" y="31"/>
                    <a:pt x="11" y="14"/>
                    <a:pt x="11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5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76"/>
            <p:cNvSpPr>
              <a:spLocks/>
            </p:cNvSpPr>
            <p:nvPr/>
          </p:nvSpPr>
          <p:spPr bwMode="gray">
            <a:xfrm>
              <a:off x="3948113" y="3065463"/>
              <a:ext cx="68263" cy="223838"/>
            </a:xfrm>
            <a:custGeom>
              <a:avLst/>
              <a:gdLst>
                <a:gd name="T0" fmla="*/ 0 w 18"/>
                <a:gd name="T1" fmla="*/ 57 h 59"/>
                <a:gd name="T2" fmla="*/ 18 w 18"/>
                <a:gd name="T3" fmla="*/ 59 h 59"/>
                <a:gd name="T4" fmla="*/ 8 w 18"/>
                <a:gd name="T5" fmla="*/ 0 h 59"/>
                <a:gd name="T6" fmla="*/ 0 w 18"/>
                <a:gd name="T7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59">
                  <a:moveTo>
                    <a:pt x="0" y="57"/>
                  </a:moveTo>
                  <a:cubicBezTo>
                    <a:pt x="5" y="56"/>
                    <a:pt x="15" y="57"/>
                    <a:pt x="18" y="59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gray">
            <a:xfrm>
              <a:off x="3535363" y="3035300"/>
              <a:ext cx="247650" cy="601663"/>
            </a:xfrm>
            <a:custGeom>
              <a:avLst/>
              <a:gdLst>
                <a:gd name="T0" fmla="*/ 23 w 66"/>
                <a:gd name="T1" fmla="*/ 11 h 159"/>
                <a:gd name="T2" fmla="*/ 22 w 66"/>
                <a:gd name="T3" fmla="*/ 7 h 159"/>
                <a:gd name="T4" fmla="*/ 17 w 66"/>
                <a:gd name="T5" fmla="*/ 5 h 159"/>
                <a:gd name="T6" fmla="*/ 13 w 66"/>
                <a:gd name="T7" fmla="*/ 3 h 159"/>
                <a:gd name="T8" fmla="*/ 2 w 66"/>
                <a:gd name="T9" fmla="*/ 0 h 159"/>
                <a:gd name="T10" fmla="*/ 3 w 66"/>
                <a:gd name="T11" fmla="*/ 7 h 159"/>
                <a:gd name="T12" fmla="*/ 11 w 66"/>
                <a:gd name="T13" fmla="*/ 10 h 159"/>
                <a:gd name="T14" fmla="*/ 12 w 66"/>
                <a:gd name="T15" fmla="*/ 30 h 159"/>
                <a:gd name="T16" fmla="*/ 19 w 66"/>
                <a:gd name="T17" fmla="*/ 33 h 159"/>
                <a:gd name="T18" fmla="*/ 19 w 66"/>
                <a:gd name="T19" fmla="*/ 34 h 159"/>
                <a:gd name="T20" fmla="*/ 15 w 66"/>
                <a:gd name="T21" fmla="*/ 36 h 159"/>
                <a:gd name="T22" fmla="*/ 19 w 66"/>
                <a:gd name="T23" fmla="*/ 106 h 159"/>
                <a:gd name="T24" fmla="*/ 36 w 66"/>
                <a:gd name="T25" fmla="*/ 159 h 159"/>
                <a:gd name="T26" fmla="*/ 48 w 66"/>
                <a:gd name="T27" fmla="*/ 136 h 159"/>
                <a:gd name="T28" fmla="*/ 66 w 66"/>
                <a:gd name="T29" fmla="*/ 128 h 159"/>
                <a:gd name="T30" fmla="*/ 60 w 66"/>
                <a:gd name="T31" fmla="*/ 114 h 159"/>
                <a:gd name="T32" fmla="*/ 57 w 66"/>
                <a:gd name="T33" fmla="*/ 98 h 159"/>
                <a:gd name="T34" fmla="*/ 23 w 66"/>
                <a:gd name="T35" fmla="*/ 1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59">
                  <a:moveTo>
                    <a:pt x="23" y="11"/>
                  </a:moveTo>
                  <a:cubicBezTo>
                    <a:pt x="23" y="10"/>
                    <a:pt x="23" y="8"/>
                    <a:pt x="22" y="7"/>
                  </a:cubicBezTo>
                  <a:cubicBezTo>
                    <a:pt x="21" y="7"/>
                    <a:pt x="18" y="6"/>
                    <a:pt x="17" y="5"/>
                  </a:cubicBezTo>
                  <a:cubicBezTo>
                    <a:pt x="16" y="5"/>
                    <a:pt x="14" y="3"/>
                    <a:pt x="13" y="3"/>
                  </a:cubicBezTo>
                  <a:cubicBezTo>
                    <a:pt x="9" y="3"/>
                    <a:pt x="3" y="1"/>
                    <a:pt x="2" y="0"/>
                  </a:cubicBezTo>
                  <a:cubicBezTo>
                    <a:pt x="0" y="4"/>
                    <a:pt x="1" y="6"/>
                    <a:pt x="3" y="7"/>
                  </a:cubicBezTo>
                  <a:cubicBezTo>
                    <a:pt x="4" y="9"/>
                    <a:pt x="8" y="10"/>
                    <a:pt x="11" y="1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3" y="32"/>
                    <a:pt x="16" y="33"/>
                    <a:pt x="19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9"/>
                    <a:pt x="19" y="105"/>
                    <a:pt x="19" y="106"/>
                  </a:cubicBezTo>
                  <a:cubicBezTo>
                    <a:pt x="20" y="107"/>
                    <a:pt x="36" y="156"/>
                    <a:pt x="36" y="159"/>
                  </a:cubicBezTo>
                  <a:cubicBezTo>
                    <a:pt x="38" y="154"/>
                    <a:pt x="43" y="141"/>
                    <a:pt x="48" y="136"/>
                  </a:cubicBezTo>
                  <a:cubicBezTo>
                    <a:pt x="54" y="130"/>
                    <a:pt x="61" y="128"/>
                    <a:pt x="66" y="128"/>
                  </a:cubicBezTo>
                  <a:cubicBezTo>
                    <a:pt x="65" y="127"/>
                    <a:pt x="60" y="115"/>
                    <a:pt x="60" y="114"/>
                  </a:cubicBezTo>
                  <a:cubicBezTo>
                    <a:pt x="60" y="113"/>
                    <a:pt x="58" y="99"/>
                    <a:pt x="57" y="98"/>
                  </a:cubicBezTo>
                  <a:cubicBezTo>
                    <a:pt x="57" y="97"/>
                    <a:pt x="24" y="12"/>
                    <a:pt x="23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8"/>
            <p:cNvSpPr>
              <a:spLocks/>
            </p:cNvSpPr>
            <p:nvPr/>
          </p:nvSpPr>
          <p:spPr bwMode="gray">
            <a:xfrm>
              <a:off x="3489326" y="2994025"/>
              <a:ext cx="117475" cy="46038"/>
            </a:xfrm>
            <a:custGeom>
              <a:avLst/>
              <a:gdLst>
                <a:gd name="T0" fmla="*/ 15 w 31"/>
                <a:gd name="T1" fmla="*/ 6 h 12"/>
                <a:gd name="T2" fmla="*/ 30 w 31"/>
                <a:gd name="T3" fmla="*/ 12 h 12"/>
                <a:gd name="T4" fmla="*/ 27 w 31"/>
                <a:gd name="T5" fmla="*/ 3 h 12"/>
                <a:gd name="T6" fmla="*/ 14 w 31"/>
                <a:gd name="T7" fmla="*/ 0 h 12"/>
                <a:gd name="T8" fmla="*/ 3 w 31"/>
                <a:gd name="T9" fmla="*/ 3 h 12"/>
                <a:gd name="T10" fmla="*/ 0 w 31"/>
                <a:gd name="T11" fmla="*/ 11 h 12"/>
                <a:gd name="T12" fmla="*/ 15 w 31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15" y="6"/>
                  </a:moveTo>
                  <a:cubicBezTo>
                    <a:pt x="24" y="6"/>
                    <a:pt x="28" y="10"/>
                    <a:pt x="30" y="12"/>
                  </a:cubicBezTo>
                  <a:cubicBezTo>
                    <a:pt x="31" y="8"/>
                    <a:pt x="30" y="6"/>
                    <a:pt x="27" y="3"/>
                  </a:cubicBezTo>
                  <a:cubicBezTo>
                    <a:pt x="25" y="1"/>
                    <a:pt x="21" y="0"/>
                    <a:pt x="14" y="0"/>
                  </a:cubicBezTo>
                  <a:cubicBezTo>
                    <a:pt x="10" y="0"/>
                    <a:pt x="5" y="1"/>
                    <a:pt x="3" y="3"/>
                  </a:cubicBezTo>
                  <a:cubicBezTo>
                    <a:pt x="0" y="5"/>
                    <a:pt x="0" y="8"/>
                    <a:pt x="0" y="11"/>
                  </a:cubicBezTo>
                  <a:cubicBezTo>
                    <a:pt x="1" y="9"/>
                    <a:pt x="7" y="6"/>
                    <a:pt x="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9"/>
            <p:cNvSpPr>
              <a:spLocks/>
            </p:cNvSpPr>
            <p:nvPr/>
          </p:nvSpPr>
          <p:spPr bwMode="gray">
            <a:xfrm>
              <a:off x="3482976" y="2778125"/>
              <a:ext cx="242888" cy="106363"/>
            </a:xfrm>
            <a:custGeom>
              <a:avLst/>
              <a:gdLst>
                <a:gd name="T0" fmla="*/ 0 w 65"/>
                <a:gd name="T1" fmla="*/ 14 h 28"/>
                <a:gd name="T2" fmla="*/ 2 w 65"/>
                <a:gd name="T3" fmla="*/ 24 h 28"/>
                <a:gd name="T4" fmla="*/ 7 w 65"/>
                <a:gd name="T5" fmla="*/ 27 h 28"/>
                <a:gd name="T6" fmla="*/ 17 w 65"/>
                <a:gd name="T7" fmla="*/ 23 h 28"/>
                <a:gd name="T8" fmla="*/ 26 w 65"/>
                <a:gd name="T9" fmla="*/ 28 h 28"/>
                <a:gd name="T10" fmla="*/ 32 w 65"/>
                <a:gd name="T11" fmla="*/ 26 h 28"/>
                <a:gd name="T12" fmla="*/ 36 w 65"/>
                <a:gd name="T13" fmla="*/ 28 h 28"/>
                <a:gd name="T14" fmla="*/ 41 w 65"/>
                <a:gd name="T15" fmla="*/ 22 h 28"/>
                <a:gd name="T16" fmla="*/ 62 w 65"/>
                <a:gd name="T17" fmla="*/ 12 h 28"/>
                <a:gd name="T18" fmla="*/ 65 w 65"/>
                <a:gd name="T19" fmla="*/ 2 h 28"/>
                <a:gd name="T20" fmla="*/ 52 w 65"/>
                <a:gd name="T21" fmla="*/ 8 h 28"/>
                <a:gd name="T22" fmla="*/ 40 w 65"/>
                <a:gd name="T23" fmla="*/ 6 h 28"/>
                <a:gd name="T24" fmla="*/ 41 w 65"/>
                <a:gd name="T25" fmla="*/ 0 h 28"/>
                <a:gd name="T26" fmla="*/ 28 w 65"/>
                <a:gd name="T27" fmla="*/ 2 h 28"/>
                <a:gd name="T28" fmla="*/ 15 w 65"/>
                <a:gd name="T29" fmla="*/ 1 h 28"/>
                <a:gd name="T30" fmla="*/ 0 w 65"/>
                <a:gd name="T31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28">
                  <a:moveTo>
                    <a:pt x="0" y="14"/>
                  </a:moveTo>
                  <a:cubicBezTo>
                    <a:pt x="0" y="18"/>
                    <a:pt x="1" y="21"/>
                    <a:pt x="2" y="24"/>
                  </a:cubicBezTo>
                  <a:cubicBezTo>
                    <a:pt x="3" y="25"/>
                    <a:pt x="5" y="27"/>
                    <a:pt x="7" y="27"/>
                  </a:cubicBezTo>
                  <a:cubicBezTo>
                    <a:pt x="9" y="27"/>
                    <a:pt x="12" y="22"/>
                    <a:pt x="17" y="23"/>
                  </a:cubicBezTo>
                  <a:cubicBezTo>
                    <a:pt x="21" y="23"/>
                    <a:pt x="23" y="28"/>
                    <a:pt x="26" y="28"/>
                  </a:cubicBezTo>
                  <a:cubicBezTo>
                    <a:pt x="28" y="28"/>
                    <a:pt x="29" y="26"/>
                    <a:pt x="32" y="26"/>
                  </a:cubicBezTo>
                  <a:cubicBezTo>
                    <a:pt x="34" y="25"/>
                    <a:pt x="34" y="26"/>
                    <a:pt x="36" y="28"/>
                  </a:cubicBezTo>
                  <a:cubicBezTo>
                    <a:pt x="36" y="26"/>
                    <a:pt x="38" y="24"/>
                    <a:pt x="41" y="22"/>
                  </a:cubicBezTo>
                  <a:cubicBezTo>
                    <a:pt x="44" y="19"/>
                    <a:pt x="57" y="17"/>
                    <a:pt x="62" y="12"/>
                  </a:cubicBezTo>
                  <a:cubicBezTo>
                    <a:pt x="65" y="10"/>
                    <a:pt x="65" y="5"/>
                    <a:pt x="65" y="2"/>
                  </a:cubicBezTo>
                  <a:cubicBezTo>
                    <a:pt x="63" y="5"/>
                    <a:pt x="57" y="8"/>
                    <a:pt x="52" y="8"/>
                  </a:cubicBezTo>
                  <a:cubicBezTo>
                    <a:pt x="49" y="9"/>
                    <a:pt x="42" y="7"/>
                    <a:pt x="40" y="6"/>
                  </a:cubicBezTo>
                  <a:cubicBezTo>
                    <a:pt x="41" y="4"/>
                    <a:pt x="42" y="2"/>
                    <a:pt x="41" y="0"/>
                  </a:cubicBezTo>
                  <a:cubicBezTo>
                    <a:pt x="39" y="1"/>
                    <a:pt x="31" y="2"/>
                    <a:pt x="28" y="2"/>
                  </a:cubicBezTo>
                  <a:cubicBezTo>
                    <a:pt x="25" y="2"/>
                    <a:pt x="19" y="1"/>
                    <a:pt x="15" y="1"/>
                  </a:cubicBezTo>
                  <a:cubicBezTo>
                    <a:pt x="5" y="1"/>
                    <a:pt x="0" y="8"/>
                    <a:pt x="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80"/>
            <p:cNvSpPr>
              <a:spLocks/>
            </p:cNvSpPr>
            <p:nvPr/>
          </p:nvSpPr>
          <p:spPr bwMode="gray">
            <a:xfrm>
              <a:off x="3422651" y="2895600"/>
              <a:ext cx="247650" cy="125413"/>
            </a:xfrm>
            <a:custGeom>
              <a:avLst/>
              <a:gdLst>
                <a:gd name="T0" fmla="*/ 33 w 66"/>
                <a:gd name="T1" fmla="*/ 14 h 33"/>
                <a:gd name="T2" fmla="*/ 65 w 66"/>
                <a:gd name="T3" fmla="*/ 32 h 33"/>
                <a:gd name="T4" fmla="*/ 65 w 66"/>
                <a:gd name="T5" fmla="*/ 25 h 33"/>
                <a:gd name="T6" fmla="*/ 62 w 66"/>
                <a:gd name="T7" fmla="*/ 15 h 33"/>
                <a:gd name="T8" fmla="*/ 63 w 66"/>
                <a:gd name="T9" fmla="*/ 9 h 33"/>
                <a:gd name="T10" fmla="*/ 55 w 66"/>
                <a:gd name="T11" fmla="*/ 10 h 33"/>
                <a:gd name="T12" fmla="*/ 51 w 66"/>
                <a:gd name="T13" fmla="*/ 3 h 33"/>
                <a:gd name="T14" fmla="*/ 41 w 66"/>
                <a:gd name="T15" fmla="*/ 5 h 33"/>
                <a:gd name="T16" fmla="*/ 33 w 66"/>
                <a:gd name="T17" fmla="*/ 0 h 33"/>
                <a:gd name="T18" fmla="*/ 24 w 66"/>
                <a:gd name="T19" fmla="*/ 5 h 33"/>
                <a:gd name="T20" fmla="*/ 16 w 66"/>
                <a:gd name="T21" fmla="*/ 4 h 33"/>
                <a:gd name="T22" fmla="*/ 13 w 66"/>
                <a:gd name="T23" fmla="*/ 7 h 33"/>
                <a:gd name="T24" fmla="*/ 9 w 66"/>
                <a:gd name="T25" fmla="*/ 10 h 33"/>
                <a:gd name="T26" fmla="*/ 4 w 66"/>
                <a:gd name="T27" fmla="*/ 9 h 33"/>
                <a:gd name="T28" fmla="*/ 4 w 66"/>
                <a:gd name="T29" fmla="*/ 16 h 33"/>
                <a:gd name="T30" fmla="*/ 0 w 66"/>
                <a:gd name="T31" fmla="*/ 26 h 33"/>
                <a:gd name="T32" fmla="*/ 2 w 66"/>
                <a:gd name="T33" fmla="*/ 33 h 33"/>
                <a:gd name="T34" fmla="*/ 33 w 66"/>
                <a:gd name="T35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33">
                  <a:moveTo>
                    <a:pt x="33" y="14"/>
                  </a:moveTo>
                  <a:cubicBezTo>
                    <a:pt x="55" y="14"/>
                    <a:pt x="64" y="24"/>
                    <a:pt x="65" y="32"/>
                  </a:cubicBezTo>
                  <a:cubicBezTo>
                    <a:pt x="66" y="30"/>
                    <a:pt x="66" y="28"/>
                    <a:pt x="65" y="25"/>
                  </a:cubicBezTo>
                  <a:cubicBezTo>
                    <a:pt x="65" y="23"/>
                    <a:pt x="62" y="17"/>
                    <a:pt x="62" y="15"/>
                  </a:cubicBezTo>
                  <a:cubicBezTo>
                    <a:pt x="62" y="13"/>
                    <a:pt x="62" y="11"/>
                    <a:pt x="63" y="9"/>
                  </a:cubicBezTo>
                  <a:cubicBezTo>
                    <a:pt x="61" y="10"/>
                    <a:pt x="57" y="12"/>
                    <a:pt x="55" y="10"/>
                  </a:cubicBezTo>
                  <a:cubicBezTo>
                    <a:pt x="52" y="8"/>
                    <a:pt x="54" y="4"/>
                    <a:pt x="51" y="3"/>
                  </a:cubicBezTo>
                  <a:cubicBezTo>
                    <a:pt x="48" y="2"/>
                    <a:pt x="44" y="5"/>
                    <a:pt x="41" y="5"/>
                  </a:cubicBezTo>
                  <a:cubicBezTo>
                    <a:pt x="38" y="4"/>
                    <a:pt x="35" y="0"/>
                    <a:pt x="33" y="0"/>
                  </a:cubicBezTo>
                  <a:cubicBezTo>
                    <a:pt x="29" y="0"/>
                    <a:pt x="28" y="4"/>
                    <a:pt x="24" y="5"/>
                  </a:cubicBezTo>
                  <a:cubicBezTo>
                    <a:pt x="21" y="5"/>
                    <a:pt x="18" y="4"/>
                    <a:pt x="16" y="4"/>
                  </a:cubicBezTo>
                  <a:cubicBezTo>
                    <a:pt x="15" y="4"/>
                    <a:pt x="13" y="5"/>
                    <a:pt x="13" y="7"/>
                  </a:cubicBezTo>
                  <a:cubicBezTo>
                    <a:pt x="12" y="9"/>
                    <a:pt x="11" y="10"/>
                    <a:pt x="9" y="10"/>
                  </a:cubicBezTo>
                  <a:cubicBezTo>
                    <a:pt x="7" y="11"/>
                    <a:pt x="5" y="9"/>
                    <a:pt x="4" y="9"/>
                  </a:cubicBezTo>
                  <a:cubicBezTo>
                    <a:pt x="4" y="10"/>
                    <a:pt x="5" y="14"/>
                    <a:pt x="4" y="16"/>
                  </a:cubicBezTo>
                  <a:cubicBezTo>
                    <a:pt x="3" y="19"/>
                    <a:pt x="1" y="22"/>
                    <a:pt x="0" y="26"/>
                  </a:cubicBezTo>
                  <a:cubicBezTo>
                    <a:pt x="0" y="29"/>
                    <a:pt x="1" y="30"/>
                    <a:pt x="2" y="33"/>
                  </a:cubicBezTo>
                  <a:cubicBezTo>
                    <a:pt x="1" y="21"/>
                    <a:pt x="14" y="14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81"/>
            <p:cNvSpPr>
              <a:spLocks/>
            </p:cNvSpPr>
            <p:nvPr/>
          </p:nvSpPr>
          <p:spPr bwMode="gray">
            <a:xfrm>
              <a:off x="3463926" y="3046413"/>
              <a:ext cx="71438" cy="103188"/>
            </a:xfrm>
            <a:custGeom>
              <a:avLst/>
              <a:gdLst>
                <a:gd name="T0" fmla="*/ 9 w 19"/>
                <a:gd name="T1" fmla="*/ 15 h 27"/>
                <a:gd name="T2" fmla="*/ 2 w 19"/>
                <a:gd name="T3" fmla="*/ 20 h 27"/>
                <a:gd name="T4" fmla="*/ 6 w 19"/>
                <a:gd name="T5" fmla="*/ 27 h 27"/>
                <a:gd name="T6" fmla="*/ 10 w 19"/>
                <a:gd name="T7" fmla="*/ 22 h 27"/>
                <a:gd name="T8" fmla="*/ 13 w 19"/>
                <a:gd name="T9" fmla="*/ 19 h 27"/>
                <a:gd name="T10" fmla="*/ 15 w 19"/>
                <a:gd name="T11" fmla="*/ 17 h 27"/>
                <a:gd name="T12" fmla="*/ 14 w 19"/>
                <a:gd name="T13" fmla="*/ 14 h 27"/>
                <a:gd name="T14" fmla="*/ 18 w 19"/>
                <a:gd name="T15" fmla="*/ 13 h 27"/>
                <a:gd name="T16" fmla="*/ 19 w 19"/>
                <a:gd name="T17" fmla="*/ 10 h 27"/>
                <a:gd name="T18" fmla="*/ 17 w 19"/>
                <a:gd name="T19" fmla="*/ 8 h 27"/>
                <a:gd name="T20" fmla="*/ 11 w 19"/>
                <a:gd name="T21" fmla="*/ 8 h 27"/>
                <a:gd name="T22" fmla="*/ 14 w 19"/>
                <a:gd name="T23" fmla="*/ 6 h 27"/>
                <a:gd name="T24" fmla="*/ 16 w 19"/>
                <a:gd name="T25" fmla="*/ 4 h 27"/>
                <a:gd name="T26" fmla="*/ 15 w 19"/>
                <a:gd name="T27" fmla="*/ 0 h 27"/>
                <a:gd name="T28" fmla="*/ 2 w 19"/>
                <a:gd name="T29" fmla="*/ 6 h 27"/>
                <a:gd name="T30" fmla="*/ 4 w 19"/>
                <a:gd name="T31" fmla="*/ 9 h 27"/>
                <a:gd name="T32" fmla="*/ 1 w 19"/>
                <a:gd name="T33" fmla="*/ 9 h 27"/>
                <a:gd name="T34" fmla="*/ 1 w 19"/>
                <a:gd name="T35" fmla="*/ 16 h 27"/>
                <a:gd name="T36" fmla="*/ 9 w 19"/>
                <a:gd name="T37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9" y="15"/>
                  </a:moveTo>
                  <a:cubicBezTo>
                    <a:pt x="7" y="16"/>
                    <a:pt x="4" y="18"/>
                    <a:pt x="2" y="20"/>
                  </a:cubicBezTo>
                  <a:cubicBezTo>
                    <a:pt x="3" y="22"/>
                    <a:pt x="5" y="26"/>
                    <a:pt x="6" y="27"/>
                  </a:cubicBezTo>
                  <a:cubicBezTo>
                    <a:pt x="7" y="25"/>
                    <a:pt x="9" y="22"/>
                    <a:pt x="10" y="22"/>
                  </a:cubicBezTo>
                  <a:cubicBezTo>
                    <a:pt x="11" y="21"/>
                    <a:pt x="12" y="20"/>
                    <a:pt x="13" y="19"/>
                  </a:cubicBezTo>
                  <a:cubicBezTo>
                    <a:pt x="15" y="19"/>
                    <a:pt x="15" y="18"/>
                    <a:pt x="15" y="17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5" y="14"/>
                    <a:pt x="17" y="14"/>
                    <a:pt x="18" y="13"/>
                  </a:cubicBezTo>
                  <a:cubicBezTo>
                    <a:pt x="19" y="12"/>
                    <a:pt x="19" y="11"/>
                    <a:pt x="19" y="10"/>
                  </a:cubicBezTo>
                  <a:cubicBezTo>
                    <a:pt x="19" y="9"/>
                    <a:pt x="18" y="8"/>
                    <a:pt x="17" y="8"/>
                  </a:cubicBezTo>
                  <a:cubicBezTo>
                    <a:pt x="16" y="8"/>
                    <a:pt x="12" y="8"/>
                    <a:pt x="11" y="8"/>
                  </a:cubicBezTo>
                  <a:cubicBezTo>
                    <a:pt x="11" y="8"/>
                    <a:pt x="13" y="7"/>
                    <a:pt x="14" y="6"/>
                  </a:cubicBezTo>
                  <a:cubicBezTo>
                    <a:pt x="15" y="6"/>
                    <a:pt x="15" y="5"/>
                    <a:pt x="16" y="4"/>
                  </a:cubicBezTo>
                  <a:cubicBezTo>
                    <a:pt x="16" y="4"/>
                    <a:pt x="16" y="2"/>
                    <a:pt x="15" y="0"/>
                  </a:cubicBezTo>
                  <a:cubicBezTo>
                    <a:pt x="11" y="0"/>
                    <a:pt x="4" y="4"/>
                    <a:pt x="2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4" y="15"/>
                    <a:pt x="7" y="15"/>
                    <a:pt x="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2"/>
            <p:cNvSpPr>
              <a:spLocks noEditPoints="1"/>
            </p:cNvSpPr>
            <p:nvPr/>
          </p:nvSpPr>
          <p:spPr bwMode="gray">
            <a:xfrm>
              <a:off x="3846513" y="3303588"/>
              <a:ext cx="312738" cy="431800"/>
            </a:xfrm>
            <a:custGeom>
              <a:avLst/>
              <a:gdLst>
                <a:gd name="T0" fmla="*/ 64 w 83"/>
                <a:gd name="T1" fmla="*/ 13 h 114"/>
                <a:gd name="T2" fmla="*/ 5 w 83"/>
                <a:gd name="T3" fmla="*/ 19 h 114"/>
                <a:gd name="T4" fmla="*/ 1 w 83"/>
                <a:gd name="T5" fmla="*/ 37 h 114"/>
                <a:gd name="T6" fmla="*/ 6 w 83"/>
                <a:gd name="T7" fmla="*/ 36 h 114"/>
                <a:gd name="T8" fmla="*/ 13 w 83"/>
                <a:gd name="T9" fmla="*/ 36 h 114"/>
                <a:gd name="T10" fmla="*/ 8 w 83"/>
                <a:gd name="T11" fmla="*/ 50 h 114"/>
                <a:gd name="T12" fmla="*/ 15 w 83"/>
                <a:gd name="T13" fmla="*/ 48 h 114"/>
                <a:gd name="T14" fmla="*/ 16 w 83"/>
                <a:gd name="T15" fmla="*/ 62 h 114"/>
                <a:gd name="T16" fmla="*/ 16 w 83"/>
                <a:gd name="T17" fmla="*/ 70 h 114"/>
                <a:gd name="T18" fmla="*/ 20 w 83"/>
                <a:gd name="T19" fmla="*/ 71 h 114"/>
                <a:gd name="T20" fmla="*/ 27 w 83"/>
                <a:gd name="T21" fmla="*/ 75 h 114"/>
                <a:gd name="T22" fmla="*/ 16 w 83"/>
                <a:gd name="T23" fmla="*/ 75 h 114"/>
                <a:gd name="T24" fmla="*/ 22 w 83"/>
                <a:gd name="T25" fmla="*/ 77 h 114"/>
                <a:gd name="T26" fmla="*/ 24 w 83"/>
                <a:gd name="T27" fmla="*/ 80 h 114"/>
                <a:gd name="T28" fmla="*/ 19 w 83"/>
                <a:gd name="T29" fmla="*/ 83 h 114"/>
                <a:gd name="T30" fmla="*/ 26 w 83"/>
                <a:gd name="T31" fmla="*/ 91 h 114"/>
                <a:gd name="T32" fmla="*/ 30 w 83"/>
                <a:gd name="T33" fmla="*/ 100 h 114"/>
                <a:gd name="T34" fmla="*/ 78 w 83"/>
                <a:gd name="T35" fmla="*/ 102 h 114"/>
                <a:gd name="T36" fmla="*/ 63 w 83"/>
                <a:gd name="T37" fmla="*/ 68 h 114"/>
                <a:gd name="T38" fmla="*/ 72 w 83"/>
                <a:gd name="T39" fmla="*/ 61 h 114"/>
                <a:gd name="T40" fmla="*/ 74 w 83"/>
                <a:gd name="T41" fmla="*/ 55 h 114"/>
                <a:gd name="T42" fmla="*/ 70 w 83"/>
                <a:gd name="T43" fmla="*/ 51 h 114"/>
                <a:gd name="T44" fmla="*/ 59 w 83"/>
                <a:gd name="T45" fmla="*/ 50 h 114"/>
                <a:gd name="T46" fmla="*/ 23 w 83"/>
                <a:gd name="T47" fmla="*/ 33 h 114"/>
                <a:gd name="T48" fmla="*/ 12 w 83"/>
                <a:gd name="T49" fmla="*/ 28 h 114"/>
                <a:gd name="T50" fmla="*/ 17 w 83"/>
                <a:gd name="T51" fmla="*/ 29 h 114"/>
                <a:gd name="T52" fmla="*/ 53 w 83"/>
                <a:gd name="T53" fmla="*/ 32 h 114"/>
                <a:gd name="T54" fmla="*/ 78 w 83"/>
                <a:gd name="T55" fmla="*/ 42 h 114"/>
                <a:gd name="T56" fmla="*/ 73 w 83"/>
                <a:gd name="T57" fmla="*/ 26 h 114"/>
                <a:gd name="T58" fmla="*/ 83 w 83"/>
                <a:gd name="T59" fmla="*/ 32 h 114"/>
                <a:gd name="T60" fmla="*/ 29 w 83"/>
                <a:gd name="T61" fmla="*/ 40 h 114"/>
                <a:gd name="T62" fmla="*/ 46 w 83"/>
                <a:gd name="T63" fmla="*/ 47 h 114"/>
                <a:gd name="T64" fmla="*/ 32 w 83"/>
                <a:gd name="T65" fmla="*/ 47 h 114"/>
                <a:gd name="T66" fmla="*/ 29 w 83"/>
                <a:gd name="T67" fmla="*/ 51 h 114"/>
                <a:gd name="T68" fmla="*/ 20 w 83"/>
                <a:gd name="T69" fmla="*/ 47 h 114"/>
                <a:gd name="T70" fmla="*/ 9 w 83"/>
                <a:gd name="T71" fmla="*/ 27 h 114"/>
                <a:gd name="T72" fmla="*/ 18 w 83"/>
                <a:gd name="T73" fmla="*/ 20 h 114"/>
                <a:gd name="T74" fmla="*/ 42 w 83"/>
                <a:gd name="T75" fmla="*/ 20 h 114"/>
                <a:gd name="T76" fmla="*/ 20 w 83"/>
                <a:gd name="T77" fmla="*/ 10 h 114"/>
                <a:gd name="T78" fmla="*/ 43 w 83"/>
                <a:gd name="T79" fmla="*/ 9 h 114"/>
                <a:gd name="T80" fmla="*/ 63 w 83"/>
                <a:gd name="T81" fmla="*/ 30 h 114"/>
                <a:gd name="T82" fmla="*/ 51 w 83"/>
                <a:gd name="T83" fmla="*/ 12 h 114"/>
                <a:gd name="T84" fmla="*/ 63 w 83"/>
                <a:gd name="T85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3" h="114">
                  <a:moveTo>
                    <a:pt x="83" y="32"/>
                  </a:moveTo>
                  <a:cubicBezTo>
                    <a:pt x="82" y="30"/>
                    <a:pt x="75" y="22"/>
                    <a:pt x="64" y="13"/>
                  </a:cubicBezTo>
                  <a:cubicBezTo>
                    <a:pt x="55" y="7"/>
                    <a:pt x="42" y="0"/>
                    <a:pt x="32" y="0"/>
                  </a:cubicBezTo>
                  <a:cubicBezTo>
                    <a:pt x="14" y="0"/>
                    <a:pt x="6" y="13"/>
                    <a:pt x="5" y="19"/>
                  </a:cubicBezTo>
                  <a:cubicBezTo>
                    <a:pt x="4" y="23"/>
                    <a:pt x="4" y="27"/>
                    <a:pt x="5" y="29"/>
                  </a:cubicBezTo>
                  <a:cubicBezTo>
                    <a:pt x="2" y="32"/>
                    <a:pt x="1" y="34"/>
                    <a:pt x="1" y="37"/>
                  </a:cubicBezTo>
                  <a:cubicBezTo>
                    <a:pt x="0" y="39"/>
                    <a:pt x="1" y="42"/>
                    <a:pt x="3" y="43"/>
                  </a:cubicBezTo>
                  <a:cubicBezTo>
                    <a:pt x="2" y="41"/>
                    <a:pt x="4" y="38"/>
                    <a:pt x="6" y="36"/>
                  </a:cubicBezTo>
                  <a:cubicBezTo>
                    <a:pt x="7" y="33"/>
                    <a:pt x="10" y="32"/>
                    <a:pt x="12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1" y="37"/>
                    <a:pt x="8" y="40"/>
                    <a:pt x="7" y="4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7" y="71"/>
                    <a:pt x="20" y="71"/>
                  </a:cubicBezTo>
                  <a:cubicBezTo>
                    <a:pt x="22" y="71"/>
                    <a:pt x="27" y="73"/>
                    <a:pt x="27" y="73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6"/>
                    <a:pt x="17" y="77"/>
                    <a:pt x="18" y="78"/>
                  </a:cubicBezTo>
                  <a:cubicBezTo>
                    <a:pt x="19" y="77"/>
                    <a:pt x="21" y="77"/>
                    <a:pt x="22" y="77"/>
                  </a:cubicBezTo>
                  <a:cubicBezTo>
                    <a:pt x="22" y="77"/>
                    <a:pt x="24" y="77"/>
                    <a:pt x="26" y="77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3" y="81"/>
                    <a:pt x="21" y="80"/>
                  </a:cubicBezTo>
                  <a:cubicBezTo>
                    <a:pt x="20" y="80"/>
                    <a:pt x="19" y="81"/>
                    <a:pt x="19" y="83"/>
                  </a:cubicBezTo>
                  <a:cubicBezTo>
                    <a:pt x="19" y="84"/>
                    <a:pt x="20" y="87"/>
                    <a:pt x="20" y="87"/>
                  </a:cubicBezTo>
                  <a:cubicBezTo>
                    <a:pt x="21" y="92"/>
                    <a:pt x="26" y="91"/>
                    <a:pt x="26" y="91"/>
                  </a:cubicBezTo>
                  <a:cubicBezTo>
                    <a:pt x="29" y="90"/>
                    <a:pt x="39" y="87"/>
                    <a:pt x="39" y="87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40" y="111"/>
                    <a:pt x="58" y="105"/>
                    <a:pt x="78" y="102"/>
                  </a:cubicBezTo>
                  <a:cubicBezTo>
                    <a:pt x="76" y="98"/>
                    <a:pt x="76" y="96"/>
                    <a:pt x="73" y="91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5"/>
                    <a:pt x="70" y="63"/>
                    <a:pt x="72" y="61"/>
                  </a:cubicBezTo>
                  <a:cubicBezTo>
                    <a:pt x="74" y="60"/>
                    <a:pt x="77" y="56"/>
                    <a:pt x="78" y="54"/>
                  </a:cubicBezTo>
                  <a:cubicBezTo>
                    <a:pt x="77" y="54"/>
                    <a:pt x="75" y="54"/>
                    <a:pt x="74" y="55"/>
                  </a:cubicBezTo>
                  <a:cubicBezTo>
                    <a:pt x="73" y="55"/>
                    <a:pt x="72" y="57"/>
                    <a:pt x="70" y="56"/>
                  </a:cubicBezTo>
                  <a:cubicBezTo>
                    <a:pt x="68" y="55"/>
                    <a:pt x="69" y="53"/>
                    <a:pt x="70" y="51"/>
                  </a:cubicBezTo>
                  <a:cubicBezTo>
                    <a:pt x="70" y="50"/>
                    <a:pt x="67" y="50"/>
                    <a:pt x="66" y="51"/>
                  </a:cubicBezTo>
                  <a:cubicBezTo>
                    <a:pt x="64" y="52"/>
                    <a:pt x="61" y="52"/>
                    <a:pt x="59" y="50"/>
                  </a:cubicBezTo>
                  <a:cubicBezTo>
                    <a:pt x="56" y="47"/>
                    <a:pt x="45" y="38"/>
                    <a:pt x="42" y="36"/>
                  </a:cubicBezTo>
                  <a:cubicBezTo>
                    <a:pt x="36" y="33"/>
                    <a:pt x="28" y="32"/>
                    <a:pt x="23" y="33"/>
                  </a:cubicBezTo>
                  <a:cubicBezTo>
                    <a:pt x="20" y="34"/>
                    <a:pt x="17" y="35"/>
                    <a:pt x="16" y="35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6" y="30"/>
                    <a:pt x="17" y="29"/>
                  </a:cubicBezTo>
                  <a:cubicBezTo>
                    <a:pt x="19" y="28"/>
                    <a:pt x="25" y="27"/>
                    <a:pt x="31" y="27"/>
                  </a:cubicBezTo>
                  <a:cubicBezTo>
                    <a:pt x="39" y="27"/>
                    <a:pt x="49" y="30"/>
                    <a:pt x="53" y="32"/>
                  </a:cubicBezTo>
                  <a:cubicBezTo>
                    <a:pt x="53" y="37"/>
                    <a:pt x="64" y="44"/>
                    <a:pt x="69" y="44"/>
                  </a:cubicBezTo>
                  <a:cubicBezTo>
                    <a:pt x="73" y="45"/>
                    <a:pt x="75" y="44"/>
                    <a:pt x="78" y="42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6"/>
                    <a:pt x="82" y="35"/>
                    <a:pt x="83" y="36"/>
                  </a:cubicBezTo>
                  <a:cubicBezTo>
                    <a:pt x="83" y="35"/>
                    <a:pt x="83" y="34"/>
                    <a:pt x="83" y="32"/>
                  </a:cubicBezTo>
                  <a:moveTo>
                    <a:pt x="20" y="43"/>
                  </a:moveTo>
                  <a:cubicBezTo>
                    <a:pt x="20" y="43"/>
                    <a:pt x="24" y="41"/>
                    <a:pt x="29" y="40"/>
                  </a:cubicBezTo>
                  <a:cubicBezTo>
                    <a:pt x="35" y="38"/>
                    <a:pt x="42" y="42"/>
                    <a:pt x="47" y="4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8"/>
                    <a:pt x="35" y="47"/>
                    <a:pt x="32" y="47"/>
                  </a:cubicBezTo>
                  <a:cubicBezTo>
                    <a:pt x="29" y="47"/>
                    <a:pt x="27" y="48"/>
                    <a:pt x="27" y="4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4" y="50"/>
                    <a:pt x="22" y="47"/>
                    <a:pt x="20" y="47"/>
                  </a:cubicBezTo>
                  <a:lnTo>
                    <a:pt x="20" y="43"/>
                  </a:lnTo>
                  <a:close/>
                  <a:moveTo>
                    <a:pt x="9" y="27"/>
                  </a:moveTo>
                  <a:cubicBezTo>
                    <a:pt x="7" y="21"/>
                    <a:pt x="12" y="15"/>
                    <a:pt x="15" y="12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22"/>
                    <a:pt x="11" y="25"/>
                    <a:pt x="9" y="27"/>
                  </a:cubicBezTo>
                  <a:moveTo>
                    <a:pt x="42" y="20"/>
                  </a:moveTo>
                  <a:cubicBezTo>
                    <a:pt x="38" y="18"/>
                    <a:pt x="27" y="18"/>
                    <a:pt x="23" y="1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8"/>
                    <a:pt x="27" y="7"/>
                    <a:pt x="31" y="7"/>
                  </a:cubicBezTo>
                  <a:cubicBezTo>
                    <a:pt x="35" y="7"/>
                    <a:pt x="40" y="8"/>
                    <a:pt x="43" y="9"/>
                  </a:cubicBezTo>
                  <a:lnTo>
                    <a:pt x="42" y="20"/>
                  </a:lnTo>
                  <a:close/>
                  <a:moveTo>
                    <a:pt x="63" y="30"/>
                  </a:moveTo>
                  <a:cubicBezTo>
                    <a:pt x="58" y="27"/>
                    <a:pt x="50" y="22"/>
                    <a:pt x="47" y="2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4" y="13"/>
                    <a:pt x="66" y="21"/>
                    <a:pt x="68" y="22"/>
                  </a:cubicBezTo>
                  <a:lnTo>
                    <a:pt x="63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83"/>
            <p:cNvSpPr>
              <a:spLocks/>
            </p:cNvSpPr>
            <p:nvPr/>
          </p:nvSpPr>
          <p:spPr bwMode="gray">
            <a:xfrm>
              <a:off x="4076701" y="3179763"/>
              <a:ext cx="138113" cy="173038"/>
            </a:xfrm>
            <a:custGeom>
              <a:avLst/>
              <a:gdLst>
                <a:gd name="T0" fmla="*/ 0 w 37"/>
                <a:gd name="T1" fmla="*/ 36 h 46"/>
                <a:gd name="T2" fmla="*/ 15 w 37"/>
                <a:gd name="T3" fmla="*/ 46 h 46"/>
                <a:gd name="T4" fmla="*/ 37 w 37"/>
                <a:gd name="T5" fmla="*/ 0 h 46"/>
                <a:gd name="T6" fmla="*/ 0 w 37"/>
                <a:gd name="T7" fmla="*/ 3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46">
                  <a:moveTo>
                    <a:pt x="0" y="36"/>
                  </a:moveTo>
                  <a:cubicBezTo>
                    <a:pt x="4" y="38"/>
                    <a:pt x="13" y="45"/>
                    <a:pt x="15" y="46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4"/>
            <p:cNvSpPr>
              <a:spLocks noEditPoints="1"/>
            </p:cNvSpPr>
            <p:nvPr/>
          </p:nvSpPr>
          <p:spPr bwMode="gray">
            <a:xfrm>
              <a:off x="8705851" y="3481388"/>
              <a:ext cx="93663" cy="98425"/>
            </a:xfrm>
            <a:custGeom>
              <a:avLst/>
              <a:gdLst>
                <a:gd name="T0" fmla="*/ 12 w 25"/>
                <a:gd name="T1" fmla="*/ 0 h 26"/>
                <a:gd name="T2" fmla="*/ 25 w 25"/>
                <a:gd name="T3" fmla="*/ 13 h 26"/>
                <a:gd name="T4" fmla="*/ 12 w 25"/>
                <a:gd name="T5" fmla="*/ 26 h 26"/>
                <a:gd name="T6" fmla="*/ 0 w 25"/>
                <a:gd name="T7" fmla="*/ 13 h 26"/>
                <a:gd name="T8" fmla="*/ 12 w 25"/>
                <a:gd name="T9" fmla="*/ 0 h 26"/>
                <a:gd name="T10" fmla="*/ 12 w 25"/>
                <a:gd name="T11" fmla="*/ 23 h 26"/>
                <a:gd name="T12" fmla="*/ 22 w 25"/>
                <a:gd name="T13" fmla="*/ 13 h 26"/>
                <a:gd name="T14" fmla="*/ 12 w 25"/>
                <a:gd name="T15" fmla="*/ 3 h 26"/>
                <a:gd name="T16" fmla="*/ 3 w 25"/>
                <a:gd name="T17" fmla="*/ 13 h 26"/>
                <a:gd name="T18" fmla="*/ 12 w 25"/>
                <a:gd name="T19" fmla="*/ 23 h 26"/>
                <a:gd name="T20" fmla="*/ 8 w 25"/>
                <a:gd name="T21" fmla="*/ 6 h 26"/>
                <a:gd name="T22" fmla="*/ 13 w 25"/>
                <a:gd name="T23" fmla="*/ 6 h 26"/>
                <a:gd name="T24" fmla="*/ 18 w 25"/>
                <a:gd name="T25" fmla="*/ 10 h 26"/>
                <a:gd name="T26" fmla="*/ 15 w 25"/>
                <a:gd name="T27" fmla="*/ 14 h 26"/>
                <a:gd name="T28" fmla="*/ 18 w 25"/>
                <a:gd name="T29" fmla="*/ 20 h 26"/>
                <a:gd name="T30" fmla="*/ 16 w 25"/>
                <a:gd name="T31" fmla="*/ 20 h 26"/>
                <a:gd name="T32" fmla="*/ 12 w 25"/>
                <a:gd name="T33" fmla="*/ 14 h 26"/>
                <a:gd name="T34" fmla="*/ 10 w 25"/>
                <a:gd name="T35" fmla="*/ 14 h 26"/>
                <a:gd name="T36" fmla="*/ 10 w 25"/>
                <a:gd name="T37" fmla="*/ 20 h 26"/>
                <a:gd name="T38" fmla="*/ 8 w 25"/>
                <a:gd name="T39" fmla="*/ 20 h 26"/>
                <a:gd name="T40" fmla="*/ 8 w 25"/>
                <a:gd name="T41" fmla="*/ 6 h 26"/>
                <a:gd name="T42" fmla="*/ 10 w 25"/>
                <a:gd name="T43" fmla="*/ 12 h 26"/>
                <a:gd name="T44" fmla="*/ 13 w 25"/>
                <a:gd name="T45" fmla="*/ 12 h 26"/>
                <a:gd name="T46" fmla="*/ 16 w 25"/>
                <a:gd name="T47" fmla="*/ 10 h 26"/>
                <a:gd name="T48" fmla="*/ 13 w 25"/>
                <a:gd name="T49" fmla="*/ 8 h 26"/>
                <a:gd name="T50" fmla="*/ 10 w 25"/>
                <a:gd name="T51" fmla="*/ 8 h 26"/>
                <a:gd name="T52" fmla="*/ 10 w 25"/>
                <a:gd name="T53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" h="26">
                  <a:moveTo>
                    <a:pt x="12" y="0"/>
                  </a:moveTo>
                  <a:cubicBezTo>
                    <a:pt x="19" y="0"/>
                    <a:pt x="25" y="5"/>
                    <a:pt x="25" y="13"/>
                  </a:cubicBezTo>
                  <a:cubicBezTo>
                    <a:pt x="25" y="20"/>
                    <a:pt x="19" y="26"/>
                    <a:pt x="12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5"/>
                    <a:pt x="6" y="0"/>
                    <a:pt x="12" y="0"/>
                  </a:cubicBezTo>
                  <a:moveTo>
                    <a:pt x="12" y="23"/>
                  </a:moveTo>
                  <a:cubicBezTo>
                    <a:pt x="18" y="23"/>
                    <a:pt x="22" y="19"/>
                    <a:pt x="22" y="13"/>
                  </a:cubicBezTo>
                  <a:cubicBezTo>
                    <a:pt x="22" y="7"/>
                    <a:pt x="18" y="3"/>
                    <a:pt x="12" y="3"/>
                  </a:cubicBezTo>
                  <a:cubicBezTo>
                    <a:pt x="7" y="3"/>
                    <a:pt x="3" y="7"/>
                    <a:pt x="3" y="13"/>
                  </a:cubicBezTo>
                  <a:cubicBezTo>
                    <a:pt x="3" y="19"/>
                    <a:pt x="7" y="23"/>
                    <a:pt x="12" y="23"/>
                  </a:cubicBezTo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8" y="7"/>
                    <a:pt x="18" y="10"/>
                  </a:cubicBezTo>
                  <a:cubicBezTo>
                    <a:pt x="18" y="13"/>
                    <a:pt x="17" y="14"/>
                    <a:pt x="15" y="14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8" y="6"/>
                  </a:lnTo>
                  <a:close/>
                  <a:moveTo>
                    <a:pt x="10" y="12"/>
                  </a:moveTo>
                  <a:cubicBezTo>
                    <a:pt x="13" y="12"/>
                    <a:pt x="13" y="12"/>
                    <a:pt x="13" y="12"/>
                  </a:cubicBezTo>
                  <a:cubicBezTo>
                    <a:pt x="14" y="12"/>
                    <a:pt x="16" y="12"/>
                    <a:pt x="16" y="10"/>
                  </a:cubicBezTo>
                  <a:cubicBezTo>
                    <a:pt x="16" y="8"/>
                    <a:pt x="14" y="8"/>
                    <a:pt x="13" y="8"/>
                  </a:cubicBezTo>
                  <a:cubicBezTo>
                    <a:pt x="10" y="8"/>
                    <a:pt x="10" y="8"/>
                    <a:pt x="10" y="8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85"/>
            <p:cNvSpPr>
              <a:spLocks noChangeArrowheads="1"/>
            </p:cNvSpPr>
            <p:nvPr/>
          </p:nvSpPr>
          <p:spPr bwMode="gray">
            <a:xfrm>
              <a:off x="4470401" y="3727450"/>
              <a:ext cx="1631950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86"/>
            <p:cNvSpPr>
              <a:spLocks noChangeArrowheads="1"/>
            </p:cNvSpPr>
            <p:nvPr/>
          </p:nvSpPr>
          <p:spPr bwMode="gray">
            <a:xfrm>
              <a:off x="6327776" y="3727450"/>
              <a:ext cx="2352675" cy="158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gray">
            <a:xfrm>
              <a:off x="5410201" y="3886200"/>
              <a:ext cx="44450" cy="231775"/>
            </a:xfrm>
            <a:prstGeom prst="rect">
              <a:avLst/>
            </a:pr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8"/>
            <p:cNvSpPr>
              <a:spLocks/>
            </p:cNvSpPr>
            <p:nvPr/>
          </p:nvSpPr>
          <p:spPr bwMode="gray">
            <a:xfrm>
              <a:off x="5580063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5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5 w 108"/>
                <a:gd name="T15" fmla="*/ 146 h 146"/>
                <a:gd name="T16" fmla="*/ 26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5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5" y="146"/>
                  </a:lnTo>
                  <a:lnTo>
                    <a:pt x="26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9"/>
            <p:cNvSpPr>
              <a:spLocks/>
            </p:cNvSpPr>
            <p:nvPr/>
          </p:nvSpPr>
          <p:spPr bwMode="gray">
            <a:xfrm>
              <a:off x="5849938" y="3883025"/>
              <a:ext cx="198438" cy="238125"/>
            </a:xfrm>
            <a:custGeom>
              <a:avLst/>
              <a:gdLst>
                <a:gd name="T0" fmla="*/ 10 w 53"/>
                <a:gd name="T1" fmla="*/ 43 h 63"/>
                <a:gd name="T2" fmla="*/ 28 w 53"/>
                <a:gd name="T3" fmla="*/ 53 h 63"/>
                <a:gd name="T4" fmla="*/ 41 w 53"/>
                <a:gd name="T5" fmla="*/ 45 h 63"/>
                <a:gd name="T6" fmla="*/ 28 w 53"/>
                <a:gd name="T7" fmla="*/ 37 h 63"/>
                <a:gd name="T8" fmla="*/ 22 w 53"/>
                <a:gd name="T9" fmla="*/ 35 h 63"/>
                <a:gd name="T10" fmla="*/ 3 w 53"/>
                <a:gd name="T11" fmla="*/ 18 h 63"/>
                <a:gd name="T12" fmla="*/ 27 w 53"/>
                <a:gd name="T13" fmla="*/ 0 h 63"/>
                <a:gd name="T14" fmla="*/ 52 w 53"/>
                <a:gd name="T15" fmla="*/ 12 h 63"/>
                <a:gd name="T16" fmla="*/ 43 w 53"/>
                <a:gd name="T17" fmla="*/ 19 h 63"/>
                <a:gd name="T18" fmla="*/ 27 w 53"/>
                <a:gd name="T19" fmla="*/ 10 h 63"/>
                <a:gd name="T20" fmla="*/ 15 w 53"/>
                <a:gd name="T21" fmla="*/ 17 h 63"/>
                <a:gd name="T22" fmla="*/ 28 w 53"/>
                <a:gd name="T23" fmla="*/ 25 h 63"/>
                <a:gd name="T24" fmla="*/ 35 w 53"/>
                <a:gd name="T25" fmla="*/ 26 h 63"/>
                <a:gd name="T26" fmla="*/ 53 w 53"/>
                <a:gd name="T27" fmla="*/ 43 h 63"/>
                <a:gd name="T28" fmla="*/ 26 w 53"/>
                <a:gd name="T29" fmla="*/ 63 h 63"/>
                <a:gd name="T30" fmla="*/ 0 w 53"/>
                <a:gd name="T31" fmla="*/ 50 h 63"/>
                <a:gd name="T32" fmla="*/ 10 w 53"/>
                <a:gd name="T33" fmla="*/ 4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3">
                  <a:moveTo>
                    <a:pt x="10" y="43"/>
                  </a:moveTo>
                  <a:cubicBezTo>
                    <a:pt x="14" y="50"/>
                    <a:pt x="21" y="53"/>
                    <a:pt x="28" y="53"/>
                  </a:cubicBezTo>
                  <a:cubicBezTo>
                    <a:pt x="33" y="53"/>
                    <a:pt x="41" y="51"/>
                    <a:pt x="41" y="45"/>
                  </a:cubicBezTo>
                  <a:cubicBezTo>
                    <a:pt x="41" y="40"/>
                    <a:pt x="36" y="39"/>
                    <a:pt x="28" y="3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2" y="33"/>
                    <a:pt x="3" y="30"/>
                    <a:pt x="3" y="18"/>
                  </a:cubicBezTo>
                  <a:cubicBezTo>
                    <a:pt x="3" y="6"/>
                    <a:pt x="16" y="0"/>
                    <a:pt x="27" y="0"/>
                  </a:cubicBezTo>
                  <a:cubicBezTo>
                    <a:pt x="37" y="0"/>
                    <a:pt x="46" y="3"/>
                    <a:pt x="52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0" y="13"/>
                    <a:pt x="34" y="10"/>
                    <a:pt x="27" y="10"/>
                  </a:cubicBezTo>
                  <a:cubicBezTo>
                    <a:pt x="20" y="10"/>
                    <a:pt x="15" y="13"/>
                    <a:pt x="15" y="17"/>
                  </a:cubicBezTo>
                  <a:cubicBezTo>
                    <a:pt x="15" y="22"/>
                    <a:pt x="21" y="23"/>
                    <a:pt x="28" y="25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4" y="28"/>
                    <a:pt x="53" y="32"/>
                    <a:pt x="53" y="43"/>
                  </a:cubicBezTo>
                  <a:cubicBezTo>
                    <a:pt x="53" y="58"/>
                    <a:pt x="39" y="63"/>
                    <a:pt x="26" y="63"/>
                  </a:cubicBezTo>
                  <a:cubicBezTo>
                    <a:pt x="16" y="63"/>
                    <a:pt x="6" y="59"/>
                    <a:pt x="0" y="50"/>
                  </a:cubicBezTo>
                  <a:lnTo>
                    <a:pt x="10" y="43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90"/>
            <p:cNvSpPr>
              <a:spLocks/>
            </p:cNvSpPr>
            <p:nvPr/>
          </p:nvSpPr>
          <p:spPr bwMode="gray">
            <a:xfrm>
              <a:off x="6157913" y="3886200"/>
              <a:ext cx="184150" cy="234950"/>
            </a:xfrm>
            <a:custGeom>
              <a:avLst/>
              <a:gdLst>
                <a:gd name="T0" fmla="*/ 49 w 49"/>
                <a:gd name="T1" fmla="*/ 42 h 62"/>
                <a:gd name="T2" fmla="*/ 24 w 49"/>
                <a:gd name="T3" fmla="*/ 62 h 62"/>
                <a:gd name="T4" fmla="*/ 0 w 49"/>
                <a:gd name="T5" fmla="*/ 42 h 62"/>
                <a:gd name="T6" fmla="*/ 0 w 49"/>
                <a:gd name="T7" fmla="*/ 0 h 62"/>
                <a:gd name="T8" fmla="*/ 11 w 49"/>
                <a:gd name="T9" fmla="*/ 0 h 62"/>
                <a:gd name="T10" fmla="*/ 11 w 49"/>
                <a:gd name="T11" fmla="*/ 39 h 62"/>
                <a:gd name="T12" fmla="*/ 24 w 49"/>
                <a:gd name="T13" fmla="*/ 51 h 62"/>
                <a:gd name="T14" fmla="*/ 37 w 49"/>
                <a:gd name="T15" fmla="*/ 39 h 62"/>
                <a:gd name="T16" fmla="*/ 37 w 49"/>
                <a:gd name="T17" fmla="*/ 0 h 62"/>
                <a:gd name="T18" fmla="*/ 49 w 49"/>
                <a:gd name="T19" fmla="*/ 0 h 62"/>
                <a:gd name="T20" fmla="*/ 49 w 49"/>
                <a:gd name="T2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62">
                  <a:moveTo>
                    <a:pt x="49" y="42"/>
                  </a:moveTo>
                  <a:cubicBezTo>
                    <a:pt x="49" y="54"/>
                    <a:pt x="39" y="62"/>
                    <a:pt x="24" y="62"/>
                  </a:cubicBezTo>
                  <a:cubicBezTo>
                    <a:pt x="10" y="62"/>
                    <a:pt x="0" y="54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6"/>
                    <a:pt x="14" y="51"/>
                    <a:pt x="24" y="51"/>
                  </a:cubicBezTo>
                  <a:cubicBezTo>
                    <a:pt x="34" y="51"/>
                    <a:pt x="37" y="46"/>
                    <a:pt x="37" y="3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42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91"/>
            <p:cNvSpPr>
              <a:spLocks noEditPoints="1"/>
            </p:cNvSpPr>
            <p:nvPr/>
          </p:nvSpPr>
          <p:spPr bwMode="gray">
            <a:xfrm>
              <a:off x="6462713" y="3886200"/>
              <a:ext cx="176213" cy="231775"/>
            </a:xfrm>
            <a:custGeom>
              <a:avLst/>
              <a:gdLst>
                <a:gd name="T0" fmla="*/ 0 w 47"/>
                <a:gd name="T1" fmla="*/ 0 h 61"/>
                <a:gd name="T2" fmla="*/ 25 w 47"/>
                <a:gd name="T3" fmla="*/ 0 h 61"/>
                <a:gd name="T4" fmla="*/ 46 w 47"/>
                <a:gd name="T5" fmla="*/ 18 h 61"/>
                <a:gd name="T6" fmla="*/ 34 w 47"/>
                <a:gd name="T7" fmla="*/ 36 h 61"/>
                <a:gd name="T8" fmla="*/ 47 w 47"/>
                <a:gd name="T9" fmla="*/ 61 h 61"/>
                <a:gd name="T10" fmla="*/ 34 w 47"/>
                <a:gd name="T11" fmla="*/ 61 h 61"/>
                <a:gd name="T12" fmla="*/ 22 w 47"/>
                <a:gd name="T13" fmla="*/ 38 h 61"/>
                <a:gd name="T14" fmla="*/ 11 w 47"/>
                <a:gd name="T15" fmla="*/ 38 h 61"/>
                <a:gd name="T16" fmla="*/ 11 w 47"/>
                <a:gd name="T17" fmla="*/ 61 h 61"/>
                <a:gd name="T18" fmla="*/ 0 w 47"/>
                <a:gd name="T19" fmla="*/ 61 h 61"/>
                <a:gd name="T20" fmla="*/ 0 w 47"/>
                <a:gd name="T21" fmla="*/ 0 h 61"/>
                <a:gd name="T22" fmla="*/ 11 w 47"/>
                <a:gd name="T23" fmla="*/ 28 h 61"/>
                <a:gd name="T24" fmla="*/ 24 w 47"/>
                <a:gd name="T25" fmla="*/ 28 h 61"/>
                <a:gd name="T26" fmla="*/ 34 w 47"/>
                <a:gd name="T27" fmla="*/ 19 h 61"/>
                <a:gd name="T28" fmla="*/ 22 w 47"/>
                <a:gd name="T29" fmla="*/ 10 h 61"/>
                <a:gd name="T30" fmla="*/ 11 w 47"/>
                <a:gd name="T31" fmla="*/ 10 h 61"/>
                <a:gd name="T32" fmla="*/ 11 w 47"/>
                <a:gd name="T33" fmla="*/ 2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61">
                  <a:moveTo>
                    <a:pt x="0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6" y="8"/>
                    <a:pt x="46" y="18"/>
                  </a:cubicBezTo>
                  <a:cubicBezTo>
                    <a:pt x="46" y="32"/>
                    <a:pt x="37" y="35"/>
                    <a:pt x="34" y="36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0" y="0"/>
                  </a:lnTo>
                  <a:close/>
                  <a:moveTo>
                    <a:pt x="11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30" y="28"/>
                    <a:pt x="34" y="25"/>
                    <a:pt x="34" y="19"/>
                  </a:cubicBezTo>
                  <a:cubicBezTo>
                    <a:pt x="34" y="14"/>
                    <a:pt x="30" y="10"/>
                    <a:pt x="22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92"/>
            <p:cNvSpPr>
              <a:spLocks noEditPoints="1"/>
            </p:cNvSpPr>
            <p:nvPr/>
          </p:nvSpPr>
          <p:spPr bwMode="gray">
            <a:xfrm>
              <a:off x="6721476" y="3886200"/>
              <a:ext cx="203200" cy="231775"/>
            </a:xfrm>
            <a:custGeom>
              <a:avLst/>
              <a:gdLst>
                <a:gd name="T0" fmla="*/ 50 w 128"/>
                <a:gd name="T1" fmla="*/ 0 h 146"/>
                <a:gd name="T2" fmla="*/ 81 w 128"/>
                <a:gd name="T3" fmla="*/ 0 h 146"/>
                <a:gd name="T4" fmla="*/ 128 w 128"/>
                <a:gd name="T5" fmla="*/ 146 h 146"/>
                <a:gd name="T6" fmla="*/ 100 w 128"/>
                <a:gd name="T7" fmla="*/ 146 h 146"/>
                <a:gd name="T8" fmla="*/ 93 w 128"/>
                <a:gd name="T9" fmla="*/ 117 h 146"/>
                <a:gd name="T10" fmla="*/ 38 w 128"/>
                <a:gd name="T11" fmla="*/ 117 h 146"/>
                <a:gd name="T12" fmla="*/ 29 w 128"/>
                <a:gd name="T13" fmla="*/ 146 h 146"/>
                <a:gd name="T14" fmla="*/ 0 w 128"/>
                <a:gd name="T15" fmla="*/ 146 h 146"/>
                <a:gd name="T16" fmla="*/ 50 w 128"/>
                <a:gd name="T17" fmla="*/ 0 h 146"/>
                <a:gd name="T18" fmla="*/ 64 w 128"/>
                <a:gd name="T19" fmla="*/ 26 h 146"/>
                <a:gd name="T20" fmla="*/ 64 w 128"/>
                <a:gd name="T21" fmla="*/ 26 h 146"/>
                <a:gd name="T22" fmla="*/ 45 w 128"/>
                <a:gd name="T23" fmla="*/ 93 h 146"/>
                <a:gd name="T24" fmla="*/ 85 w 128"/>
                <a:gd name="T25" fmla="*/ 93 h 146"/>
                <a:gd name="T26" fmla="*/ 64 w 128"/>
                <a:gd name="T27" fmla="*/ 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46">
                  <a:moveTo>
                    <a:pt x="50" y="0"/>
                  </a:moveTo>
                  <a:lnTo>
                    <a:pt x="81" y="0"/>
                  </a:lnTo>
                  <a:lnTo>
                    <a:pt x="128" y="146"/>
                  </a:lnTo>
                  <a:lnTo>
                    <a:pt x="100" y="146"/>
                  </a:lnTo>
                  <a:lnTo>
                    <a:pt x="93" y="117"/>
                  </a:lnTo>
                  <a:lnTo>
                    <a:pt x="38" y="117"/>
                  </a:lnTo>
                  <a:lnTo>
                    <a:pt x="29" y="146"/>
                  </a:lnTo>
                  <a:lnTo>
                    <a:pt x="0" y="146"/>
                  </a:lnTo>
                  <a:lnTo>
                    <a:pt x="50" y="0"/>
                  </a:lnTo>
                  <a:close/>
                  <a:moveTo>
                    <a:pt x="64" y="26"/>
                  </a:moveTo>
                  <a:lnTo>
                    <a:pt x="64" y="26"/>
                  </a:lnTo>
                  <a:lnTo>
                    <a:pt x="45" y="93"/>
                  </a:lnTo>
                  <a:lnTo>
                    <a:pt x="85" y="93"/>
                  </a:lnTo>
                  <a:lnTo>
                    <a:pt x="64" y="26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93"/>
            <p:cNvSpPr>
              <a:spLocks/>
            </p:cNvSpPr>
            <p:nvPr/>
          </p:nvSpPr>
          <p:spPr bwMode="gray">
            <a:xfrm>
              <a:off x="7023101" y="3886200"/>
              <a:ext cx="171450" cy="231775"/>
            </a:xfrm>
            <a:custGeom>
              <a:avLst/>
              <a:gdLst>
                <a:gd name="T0" fmla="*/ 0 w 108"/>
                <a:gd name="T1" fmla="*/ 0 h 146"/>
                <a:gd name="T2" fmla="*/ 23 w 108"/>
                <a:gd name="T3" fmla="*/ 0 h 146"/>
                <a:gd name="T4" fmla="*/ 82 w 108"/>
                <a:gd name="T5" fmla="*/ 103 h 146"/>
                <a:gd name="T6" fmla="*/ 85 w 108"/>
                <a:gd name="T7" fmla="*/ 103 h 146"/>
                <a:gd name="T8" fmla="*/ 85 w 108"/>
                <a:gd name="T9" fmla="*/ 0 h 146"/>
                <a:gd name="T10" fmla="*/ 108 w 108"/>
                <a:gd name="T11" fmla="*/ 0 h 146"/>
                <a:gd name="T12" fmla="*/ 108 w 108"/>
                <a:gd name="T13" fmla="*/ 146 h 146"/>
                <a:gd name="T14" fmla="*/ 82 w 108"/>
                <a:gd name="T15" fmla="*/ 146 h 146"/>
                <a:gd name="T16" fmla="*/ 23 w 108"/>
                <a:gd name="T17" fmla="*/ 43 h 146"/>
                <a:gd name="T18" fmla="*/ 23 w 108"/>
                <a:gd name="T19" fmla="*/ 43 h 146"/>
                <a:gd name="T20" fmla="*/ 23 w 108"/>
                <a:gd name="T21" fmla="*/ 146 h 146"/>
                <a:gd name="T22" fmla="*/ 0 w 108"/>
                <a:gd name="T23" fmla="*/ 146 h 146"/>
                <a:gd name="T24" fmla="*/ 0 w 108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146">
                  <a:moveTo>
                    <a:pt x="0" y="0"/>
                  </a:moveTo>
                  <a:lnTo>
                    <a:pt x="23" y="0"/>
                  </a:lnTo>
                  <a:lnTo>
                    <a:pt x="82" y="103"/>
                  </a:lnTo>
                  <a:lnTo>
                    <a:pt x="85" y="103"/>
                  </a:lnTo>
                  <a:lnTo>
                    <a:pt x="85" y="0"/>
                  </a:lnTo>
                  <a:lnTo>
                    <a:pt x="108" y="0"/>
                  </a:lnTo>
                  <a:lnTo>
                    <a:pt x="108" y="146"/>
                  </a:lnTo>
                  <a:lnTo>
                    <a:pt x="82" y="146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94"/>
            <p:cNvSpPr>
              <a:spLocks/>
            </p:cNvSpPr>
            <p:nvPr/>
          </p:nvSpPr>
          <p:spPr bwMode="gray">
            <a:xfrm>
              <a:off x="7304088" y="3883025"/>
              <a:ext cx="203200" cy="238125"/>
            </a:xfrm>
            <a:custGeom>
              <a:avLst/>
              <a:gdLst>
                <a:gd name="T0" fmla="*/ 42 w 54"/>
                <a:gd name="T1" fmla="*/ 21 h 63"/>
                <a:gd name="T2" fmla="*/ 29 w 54"/>
                <a:gd name="T3" fmla="*/ 10 h 63"/>
                <a:gd name="T4" fmla="*/ 12 w 54"/>
                <a:gd name="T5" fmla="*/ 31 h 63"/>
                <a:gd name="T6" fmla="*/ 29 w 54"/>
                <a:gd name="T7" fmla="*/ 53 h 63"/>
                <a:gd name="T8" fmla="*/ 43 w 54"/>
                <a:gd name="T9" fmla="*/ 40 h 63"/>
                <a:gd name="T10" fmla="*/ 54 w 54"/>
                <a:gd name="T11" fmla="*/ 45 h 63"/>
                <a:gd name="T12" fmla="*/ 29 w 54"/>
                <a:gd name="T13" fmla="*/ 63 h 63"/>
                <a:gd name="T14" fmla="*/ 0 w 54"/>
                <a:gd name="T15" fmla="*/ 31 h 63"/>
                <a:gd name="T16" fmla="*/ 29 w 54"/>
                <a:gd name="T17" fmla="*/ 0 h 63"/>
                <a:gd name="T18" fmla="*/ 53 w 54"/>
                <a:gd name="T19" fmla="*/ 19 h 63"/>
                <a:gd name="T20" fmla="*/ 42 w 54"/>
                <a:gd name="T21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3">
                  <a:moveTo>
                    <a:pt x="42" y="21"/>
                  </a:moveTo>
                  <a:cubicBezTo>
                    <a:pt x="41" y="15"/>
                    <a:pt x="36" y="10"/>
                    <a:pt x="29" y="10"/>
                  </a:cubicBezTo>
                  <a:cubicBezTo>
                    <a:pt x="17" y="10"/>
                    <a:pt x="12" y="21"/>
                    <a:pt x="12" y="31"/>
                  </a:cubicBezTo>
                  <a:cubicBezTo>
                    <a:pt x="12" y="42"/>
                    <a:pt x="17" y="53"/>
                    <a:pt x="29" y="53"/>
                  </a:cubicBezTo>
                  <a:cubicBezTo>
                    <a:pt x="37" y="53"/>
                    <a:pt x="41" y="47"/>
                    <a:pt x="43" y="40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49" y="57"/>
                    <a:pt x="41" y="63"/>
                    <a:pt x="29" y="63"/>
                  </a:cubicBezTo>
                  <a:cubicBezTo>
                    <a:pt x="9" y="63"/>
                    <a:pt x="0" y="48"/>
                    <a:pt x="0" y="31"/>
                  </a:cubicBezTo>
                  <a:cubicBezTo>
                    <a:pt x="0" y="14"/>
                    <a:pt x="11" y="0"/>
                    <a:pt x="29" y="0"/>
                  </a:cubicBezTo>
                  <a:cubicBezTo>
                    <a:pt x="41" y="0"/>
                    <a:pt x="50" y="6"/>
                    <a:pt x="53" y="19"/>
                  </a:cubicBezTo>
                  <a:lnTo>
                    <a:pt x="42" y="21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95"/>
            <p:cNvSpPr>
              <a:spLocks/>
            </p:cNvSpPr>
            <p:nvPr/>
          </p:nvSpPr>
          <p:spPr bwMode="gray">
            <a:xfrm>
              <a:off x="7597776" y="3886200"/>
              <a:ext cx="168275" cy="231775"/>
            </a:xfrm>
            <a:custGeom>
              <a:avLst/>
              <a:gdLst>
                <a:gd name="T0" fmla="*/ 0 w 106"/>
                <a:gd name="T1" fmla="*/ 0 h 146"/>
                <a:gd name="T2" fmla="*/ 102 w 106"/>
                <a:gd name="T3" fmla="*/ 0 h 146"/>
                <a:gd name="T4" fmla="*/ 102 w 106"/>
                <a:gd name="T5" fmla="*/ 26 h 146"/>
                <a:gd name="T6" fmla="*/ 28 w 106"/>
                <a:gd name="T7" fmla="*/ 26 h 146"/>
                <a:gd name="T8" fmla="*/ 28 w 106"/>
                <a:gd name="T9" fmla="*/ 57 h 146"/>
                <a:gd name="T10" fmla="*/ 95 w 106"/>
                <a:gd name="T11" fmla="*/ 57 h 146"/>
                <a:gd name="T12" fmla="*/ 95 w 106"/>
                <a:gd name="T13" fmla="*/ 81 h 146"/>
                <a:gd name="T14" fmla="*/ 28 w 106"/>
                <a:gd name="T15" fmla="*/ 81 h 146"/>
                <a:gd name="T16" fmla="*/ 28 w 106"/>
                <a:gd name="T17" fmla="*/ 119 h 146"/>
                <a:gd name="T18" fmla="*/ 106 w 106"/>
                <a:gd name="T19" fmla="*/ 119 h 146"/>
                <a:gd name="T20" fmla="*/ 106 w 106"/>
                <a:gd name="T21" fmla="*/ 146 h 146"/>
                <a:gd name="T22" fmla="*/ 0 w 106"/>
                <a:gd name="T23" fmla="*/ 146 h 146"/>
                <a:gd name="T24" fmla="*/ 0 w 106"/>
                <a:gd name="T2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46">
                  <a:moveTo>
                    <a:pt x="0" y="0"/>
                  </a:moveTo>
                  <a:lnTo>
                    <a:pt x="102" y="0"/>
                  </a:lnTo>
                  <a:lnTo>
                    <a:pt x="102" y="26"/>
                  </a:lnTo>
                  <a:lnTo>
                    <a:pt x="28" y="26"/>
                  </a:lnTo>
                  <a:lnTo>
                    <a:pt x="28" y="57"/>
                  </a:lnTo>
                  <a:lnTo>
                    <a:pt x="95" y="57"/>
                  </a:lnTo>
                  <a:lnTo>
                    <a:pt x="95" y="81"/>
                  </a:lnTo>
                  <a:lnTo>
                    <a:pt x="28" y="81"/>
                  </a:lnTo>
                  <a:lnTo>
                    <a:pt x="28" y="119"/>
                  </a:lnTo>
                  <a:lnTo>
                    <a:pt x="106" y="119"/>
                  </a:lnTo>
                  <a:lnTo>
                    <a:pt x="106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96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34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image" Target="../media/image2.emf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241820-70D3-416C-1B4C-9FA0ABB9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9BEEB-847D-817D-551B-0369B9030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3943E-1597-0E73-3D2E-FB161A0F9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C5D8B-F8D3-964E-A6D0-B5CB643BCF79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8BEFC-BE45-8D70-5399-5BC9BB55D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89EA2-48E5-32EF-10AC-675FFF488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1B00E-8A1C-AD45-B66A-572B7F0A2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12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DB5BD-5652-4CE6-AF15-1F1D286F3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89053" y="6329181"/>
            <a:ext cx="3369448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lang="en-US" sz="1200" dirty="0">
                <a:solidFill>
                  <a:schemeClr val="accent5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C0F6CD-B68A-4B25-A96E-60C5E9421FBA}"/>
              </a:ext>
            </a:extLst>
          </p:cNvPr>
          <p:cNvGrpSpPr/>
          <p:nvPr userDrawn="1"/>
        </p:nvGrpSpPr>
        <p:grpSpPr>
          <a:xfrm>
            <a:off x="11595616" y="6272487"/>
            <a:ext cx="461773" cy="469521"/>
            <a:chOff x="11613545" y="6272479"/>
            <a:chExt cx="461773" cy="46952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736DA99-4B25-47B5-BB1D-DF5F49F48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3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4D7DAD4-4DD1-4954-AFF6-C923B2EE2EA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4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37E5C-E878-46AB-9E8B-4290B755A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58501" y="6370644"/>
            <a:ext cx="628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1200" smtClean="0">
                <a:solidFill>
                  <a:schemeClr val="accent5"/>
                </a:solidFill>
              </a:defRPr>
            </a:lvl1pPr>
          </a:lstStyle>
          <a:p>
            <a:fld id="{8FB4CE90-470A-43E3-A052-3E8AD880B4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632" y="168443"/>
            <a:ext cx="11730789" cy="1203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632" y="1446123"/>
            <a:ext cx="11730789" cy="4723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132974" y="6223139"/>
            <a:ext cx="1192606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C8ACB4D2-1934-2A4A-A33D-93BB1D7B76E7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48" y="6328394"/>
            <a:ext cx="1416309" cy="36100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2BF326-D559-C14C-B54A-2A68A76DEA09}"/>
              </a:ext>
            </a:extLst>
          </p:cNvPr>
          <p:cNvCxnSpPr>
            <a:cxnSpLocks/>
          </p:cNvCxnSpPr>
          <p:nvPr userDrawn="1"/>
        </p:nvCxnSpPr>
        <p:spPr>
          <a:xfrm>
            <a:off x="1742919" y="6398100"/>
            <a:ext cx="0" cy="2155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7B80F158-9773-20DC-D7D1-BA4E7E4DD7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841" y="6388134"/>
            <a:ext cx="1416308" cy="24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30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</p:sldLayoutIdLst>
  <p:hf hd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680" indent="-266680" algn="l" defTabSz="914332" rtl="0" eaLnBrk="1" latinLnBrk="0" hangingPunct="1">
        <a:lnSpc>
          <a:spcPct val="90000"/>
        </a:lnSpc>
        <a:spcBef>
          <a:spcPts val="1200"/>
        </a:spcBef>
        <a:buClr>
          <a:schemeClr val="accent5"/>
        </a:buClr>
        <a:buFont typeface="Wingdings 2" panose="05020102010507070707" pitchFamily="18" charset="2"/>
        <a:buChar char=""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533360" indent="-266680" algn="l" defTabSz="914332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−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647652" indent="-152388" algn="l" defTabSz="914332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3pPr>
      <a:lvl4pPr marL="819090" indent="-230172" algn="l" defTabSz="914332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−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950843" indent="-157151" algn="l" defTabSz="914332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F26B43"/>
          </p15:clr>
        </p15:guide>
        <p15:guide id="2" pos="7544">
          <p15:clr>
            <a:srgbClr val="F26B43"/>
          </p15:clr>
        </p15:guide>
        <p15:guide id="3" pos="168">
          <p15:clr>
            <a:srgbClr val="F26B43"/>
          </p15:clr>
        </p15:guide>
        <p15:guide id="4" orient="horz" pos="412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onnectone.oneinc.com/s/login?ec=302&amp;startURL=%2Fs%2Fsupport" TargetMode="Externa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treasury-system-support-status.us-east-1.paas.lmig.com/" TargetMode="Externa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B2B KT Session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/>
              <a:t>Ticketing &amp; Incident Management Process, SLAs, Escalation Matrix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11EB-076B-D44E-3A80-27854180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>
                <a:solidFill>
                  <a:srgbClr val="000000"/>
                </a:solidFill>
                <a:latin typeface="Aptos Display"/>
              </a:rPr>
              <a:t>Overview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C2F574-E50E-7E15-427E-5A98360501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B4CE90-470A-43E3-A052-3E8AD880B4A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B0B0B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690B2-69D6-F91C-C324-2DD00D08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272CC4-5A9B-7499-D37B-E09192D8B3F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E">
                <a:solidFill>
                  <a:srgbClr val="000000"/>
                </a:solidFill>
                <a:latin typeface="Aptos" panose="020B0004020202020204" pitchFamily="34" charset="0"/>
              </a:rPr>
              <a:t>Ticketing &amp; Incident Management Process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>
                <a:solidFill>
                  <a:srgbClr val="000000"/>
                </a:solidFill>
                <a:latin typeface="Aptos" panose="020B0004020202020204" pitchFamily="34" charset="0"/>
              </a:rPr>
              <a:t>One</a:t>
            </a:r>
            <a:r>
              <a:rPr lang="en-IE">
                <a:latin typeface="Aptos" panose="020B0004020202020204" pitchFamily="34" charset="0"/>
              </a:rPr>
              <a:t>Inc Vendor Ticket Creation Process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err="1">
                <a:solidFill>
                  <a:srgbClr val="000000"/>
                </a:solidFill>
                <a:latin typeface="Aptos" panose="020B0004020202020204" pitchFamily="34" charset="0"/>
              </a:rPr>
              <a:t>OneInc</a:t>
            </a:r>
            <a:r>
              <a:rPr lang="en-GB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>
                <a:latin typeface="Aptos" panose="020B0004020202020204" pitchFamily="34" charset="0"/>
              </a:rPr>
              <a:t>Escalation Procedures</a:t>
            </a:r>
            <a:endParaRPr lang="en-GB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>
                <a:solidFill>
                  <a:srgbClr val="000000"/>
                </a:solidFill>
                <a:latin typeface="Aptos" panose="020B0004020202020204" pitchFamily="34" charset="0"/>
              </a:rPr>
              <a:t>Technical Emergency Escalation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>
                <a:solidFill>
                  <a:srgbClr val="000000"/>
                </a:solidFill>
                <a:latin typeface="Aptos" panose="020B0004020202020204" pitchFamily="34" charset="0"/>
              </a:rPr>
              <a:t>Incident Flow Diagram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err="1">
                <a:solidFill>
                  <a:srgbClr val="000000"/>
                </a:solidFill>
                <a:latin typeface="Aptos" panose="020B0004020202020204" pitchFamily="34" charset="0"/>
              </a:rPr>
              <a:t>OneInc</a:t>
            </a:r>
            <a:r>
              <a:rPr lang="en-GB">
                <a:solidFill>
                  <a:srgbClr val="000000"/>
                </a:solidFill>
                <a:latin typeface="Aptos" panose="020B0004020202020204" pitchFamily="34" charset="0"/>
              </a:rPr>
              <a:t> Account Team Contact Information</a:t>
            </a:r>
            <a:endParaRPr lang="en-US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E">
                <a:solidFill>
                  <a:srgbClr val="000000"/>
                </a:solidFill>
                <a:latin typeface="Aptos" panose="020B0004020202020204" pitchFamily="34" charset="0"/>
              </a:rPr>
              <a:t>SLAs</a:t>
            </a:r>
            <a:endParaRPr lang="en-US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>
                <a:solidFill>
                  <a:srgbClr val="000000"/>
                </a:solidFill>
                <a:latin typeface="Aptos" panose="020B0004020202020204" pitchFamily="34" charset="0"/>
              </a:rPr>
              <a:t>Escalation Matrix</a:t>
            </a:r>
            <a:endParaRPr lang="en-IE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22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BC8A-D8B3-4C4B-3B93-9FCC3B03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>
                <a:solidFill>
                  <a:srgbClr val="000000"/>
                </a:solidFill>
                <a:latin typeface="Aptos" panose="020B0004020202020204" pitchFamily="34" charset="0"/>
              </a:rPr>
              <a:t>Ticketing &amp; Incident Management Process</a:t>
            </a:r>
            <a:br>
              <a:rPr lang="en-US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7CB777-704B-81F3-8C33-C8AE60B24C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5F18D-FB83-EBC6-E2DC-5543908B1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103D09-4CEB-776E-DE9F-8E91D4DD57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893240"/>
            <a:ext cx="11734800" cy="4706751"/>
          </a:xfrm>
        </p:spPr>
        <p:txBody>
          <a:bodyPr anchor="ctr"/>
          <a:lstStyle/>
          <a:p>
            <a:r>
              <a:rPr lang="en-US"/>
              <a:t>Service Desk – Support Tickets</a:t>
            </a:r>
          </a:p>
          <a:p>
            <a:r>
              <a:rPr lang="en-US"/>
              <a:t>Service Now – Incidents for Break Glass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CB6EBD-76B0-0949-492A-44403890B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71" y="3245030"/>
            <a:ext cx="10880202" cy="245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5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4B40-27F4-9FF6-4B5D-76AE899F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83741-BAE6-EC88-5B5D-B2A38351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168443"/>
            <a:ext cx="11730789" cy="1203158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GB"/>
              <a:t>One</a:t>
            </a:r>
            <a:r>
              <a:rPr lang="en-IE"/>
              <a:t>Inc Vendor Ticket Creation Process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78A4E0-83B8-EE7C-7057-A807808C9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8501" y="6370644"/>
            <a:ext cx="628656" cy="276999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96EAB-5C38-5221-E7B0-835A6773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89053" y="6329181"/>
            <a:ext cx="3369448" cy="365125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755701-DC37-4F8C-ACFB-CA66E5639FB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9"/>
            <a:ext cx="5772150" cy="4706751"/>
          </a:xfrm>
        </p:spPr>
        <p:txBody>
          <a:bodyPr>
            <a:normAutofit/>
          </a:bodyPr>
          <a:lstStyle/>
          <a:p>
            <a:r>
              <a:rPr lang="en-US" err="1"/>
              <a:t>OneInc</a:t>
            </a:r>
            <a:r>
              <a:rPr lang="en-US"/>
              <a:t> Support Portal: </a:t>
            </a:r>
            <a:br>
              <a:rPr lang="en-US"/>
            </a:br>
            <a:r>
              <a:rPr lang="en-US">
                <a:hlinkClick r:id="rId2"/>
              </a:rPr>
              <a:t>https://connectone.oneinc.com/s/login?ec=302&amp;startURL=%2Fs%2Fsupport</a:t>
            </a:r>
            <a:endParaRPr lang="en-US"/>
          </a:p>
          <a:p>
            <a:r>
              <a:rPr lang="en-US"/>
              <a:t>Support Tickets can be created in </a:t>
            </a:r>
            <a:r>
              <a:rPr lang="en-US" err="1"/>
              <a:t>OneInc’s</a:t>
            </a:r>
            <a:r>
              <a:rPr lang="en-US"/>
              <a:t> portal via the link above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90223A-C9A2-7F06-99C4-84E9638A9B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1" r="25168" b="2"/>
          <a:stretch>
            <a:fillRect/>
          </a:stretch>
        </p:blipFill>
        <p:spPr>
          <a:xfrm>
            <a:off x="6203950" y="1443039"/>
            <a:ext cx="5772150" cy="47067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039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B7E4F-2180-FC21-F9AC-9839FA24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8D65-6E5A-9C77-80BB-9E073827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GB" err="1">
                <a:solidFill>
                  <a:srgbClr val="000000"/>
                </a:solidFill>
                <a:latin typeface="Aptos" panose="020B0004020202020204" pitchFamily="34" charset="0"/>
              </a:rPr>
              <a:t>OneInc</a:t>
            </a:r>
            <a:r>
              <a:rPr lang="en-GB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>
                <a:latin typeface="Aptos" panose="020B0004020202020204" pitchFamily="34" charset="0"/>
              </a:rPr>
              <a:t>Escalation Procedures</a:t>
            </a:r>
            <a:endParaRPr lang="en-GB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F1A46-CF04-73AB-5C63-2349F8321A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EB47D8-4352-AC11-E697-140963B8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EDE247-08F4-51FB-2793-B18D32405CC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66065" indent="-266065"/>
            <a:r>
              <a:rPr lang="en-IE" sz="2400"/>
              <a:t>Creating a Blocker Cases will trigger immediate alerts and notify requesters about the after-hours emergency line (888-774-8020). To do this you need to select Impact High &amp; Urgency High </a:t>
            </a:r>
            <a:endParaRPr lang="en-US"/>
          </a:p>
          <a:p>
            <a:pPr marL="266065" indent="-266065"/>
            <a:r>
              <a:rPr lang="en-IE" sz="2400"/>
              <a:t>**certain users will have this mid-level access to create High Urgency &amp; High Impact cases, we should have representation from Payment Hub, Navigator &amp; Treasury. </a:t>
            </a:r>
            <a:endParaRPr lang="en-IE" sz="2400">
              <a:cs typeface="Arial"/>
            </a:endParaRPr>
          </a:p>
          <a:p>
            <a:pPr marL="266065" indent="-266065"/>
            <a:r>
              <a:rPr lang="en-IE" sz="2400"/>
              <a:t>In the event a P1 Incident is triggered , we should follow the first step and open a high impact high urgency case with </a:t>
            </a:r>
            <a:r>
              <a:rPr lang="en-IE" sz="2400" err="1"/>
              <a:t>OneInc</a:t>
            </a:r>
            <a:r>
              <a:rPr lang="en-IE" sz="2400"/>
              <a:t>, but we also need to </a:t>
            </a:r>
            <a:endParaRPr lang="en-IE" sz="2400">
              <a:cs typeface="Arial"/>
            </a:endParaRPr>
          </a:p>
          <a:p>
            <a:pPr marL="532765" lvl="1" indent="-266065"/>
            <a:r>
              <a:rPr lang="en-IE" sz="2000"/>
              <a:t>Open a P1 Service Now Ticket with LM , notify the Navigator Team </a:t>
            </a:r>
            <a:r>
              <a:rPr lang="en-IE" sz="2100"/>
              <a:t>(Navigator's Service Now Group: CLAIMS FINANCIAL)  </a:t>
            </a:r>
            <a:r>
              <a:rPr lang="en-IE" sz="2000"/>
              <a:t>and trigger a Bridge Call </a:t>
            </a:r>
            <a:endParaRPr lang="en-IE" sz="2000">
              <a:cs typeface="Arial"/>
            </a:endParaRPr>
          </a:p>
          <a:p>
            <a:pPr marL="532765" lvl="1" indent="-266065"/>
            <a:r>
              <a:rPr lang="en-IE" sz="2000"/>
              <a:t>Send a communication to all LM Senior leaders to keep them informed…. (Payment Hub, Navigator, the Claims Teams &amp; Treasury)</a:t>
            </a:r>
            <a:endParaRPr lang="en-IE" sz="2000">
              <a:cs typeface="Arial"/>
            </a:endParaRPr>
          </a:p>
          <a:p>
            <a:pPr marL="532765" lvl="1" indent="-266065"/>
            <a:r>
              <a:rPr lang="en-IE" sz="2000"/>
              <a:t>Update the Treasury System Status page that will trigger an email update to our Claims Partners and anyone who has subscribed to that page. </a:t>
            </a:r>
            <a:r>
              <a:rPr lang="en-IE" sz="2000" u="sng">
                <a:hlinkClick r:id="rId2" tooltip="https://treasury-system-support-status.us-east-1.paas.lmig.com/"/>
              </a:rPr>
              <a:t>Treasury Systems - Status Page</a:t>
            </a:r>
            <a:endParaRPr lang="en-IE" sz="2000">
              <a:cs typeface="Arial"/>
            </a:endParaRPr>
          </a:p>
          <a:p>
            <a:pPr marL="266065" indent="-266065"/>
            <a:r>
              <a:rPr lang="en-IE" sz="2400"/>
              <a:t>In the event that we cant contact </a:t>
            </a:r>
            <a:r>
              <a:rPr lang="en-IE" sz="2400" err="1"/>
              <a:t>OneInc</a:t>
            </a:r>
            <a:r>
              <a:rPr lang="en-IE" sz="2400"/>
              <a:t> via this emergency number that we have the option to reach out to the account team: 1-888-774-8020</a:t>
            </a:r>
            <a:endParaRPr lang="en-IE" sz="2400">
              <a:cs typeface="Arial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45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DB3C3-BB60-6CED-D88F-2E0BF46C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7CAD-F8AF-516E-5FAA-111B3D217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168443"/>
            <a:ext cx="11730789" cy="1203158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IE"/>
              <a:t>Technical Emergency Escalation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6FBBD8-4913-10AA-C2B8-7F234BE02B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8501" y="6370644"/>
            <a:ext cx="628656" cy="276999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3FDBF-CF48-DC3E-3AD0-7563CA349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89053" y="6329181"/>
            <a:ext cx="3369448" cy="365125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0EA65-669C-C5E4-09BD-4E8F5F0A113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9"/>
            <a:ext cx="5772150" cy="47067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7" name="Picture 6" descr="image-20260220-122424.png">
            <a:extLst>
              <a:ext uri="{FF2B5EF4-FFF2-40B4-BE49-F238E27FC236}">
                <a16:creationId xmlns:a16="http://schemas.microsoft.com/office/drawing/2014/main" id="{4FE9A6F1-FDA9-D6BC-2A6D-BEE70DA3D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889" y="1042690"/>
            <a:ext cx="9347121" cy="50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6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A586D-AE28-A21B-6B90-24A639A1D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2CB1-E30A-3E49-8C57-D1DD62268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168443"/>
            <a:ext cx="11730789" cy="1203158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IE"/>
              <a:t>Incident Flow Diagram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40D387-A6AC-3B7C-850B-EA53D6488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8501" y="6370644"/>
            <a:ext cx="628656" cy="276999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DA2CAF-5047-6485-FF80-729EB9CA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89053" y="6329181"/>
            <a:ext cx="3369448" cy="365125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866B8B-6D84-1212-63DB-E9D56C4A8A9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9"/>
            <a:ext cx="5772150" cy="47067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6" name="Picture 5" descr="image-20260220-122605.png">
            <a:extLst>
              <a:ext uri="{FF2B5EF4-FFF2-40B4-BE49-F238E27FC236}">
                <a16:creationId xmlns:a16="http://schemas.microsoft.com/office/drawing/2014/main" id="{5C7F2A81-385B-FABA-C593-8EA6781C6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897" y="1225784"/>
            <a:ext cx="8418258" cy="440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72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93B16-A38A-6A00-208E-CE75B4CB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E81D-C9CE-CAEC-9BAB-B3FF4A463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168443"/>
            <a:ext cx="11730789" cy="1203158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IE" err="1"/>
              <a:t>OneInc</a:t>
            </a:r>
            <a:r>
              <a:rPr lang="en-IE"/>
              <a:t> Account Team Contact Information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53E931-E369-D341-EC37-8D6EC879E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8501" y="6370644"/>
            <a:ext cx="628656" cy="276999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F3DBF-862F-2017-3614-B57EA2BA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89053" y="6329181"/>
            <a:ext cx="3369448" cy="365125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8DE9B3-EA12-59AC-0B66-701F8260BCB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9"/>
            <a:ext cx="5772150" cy="47067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7" name="Picture 6" descr="image-20260220-122753.png">
            <a:extLst>
              <a:ext uri="{FF2B5EF4-FFF2-40B4-BE49-F238E27FC236}">
                <a16:creationId xmlns:a16="http://schemas.microsoft.com/office/drawing/2014/main" id="{A3A5F42C-BF7B-E54C-6439-F5108C15C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350" y="1120816"/>
            <a:ext cx="9021300" cy="461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22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3F8A-7805-6B43-3A20-1759D61E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9E57-1DB2-8F0B-49AA-2217E1B97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>
                <a:solidFill>
                  <a:srgbClr val="000000"/>
                </a:solidFill>
                <a:latin typeface="Aptos" panose="020B0004020202020204" pitchFamily="34" charset="0"/>
              </a:rPr>
              <a:t>SLAs</a:t>
            </a:r>
            <a:br>
              <a:rPr lang="en-US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0208D7-4691-4C12-7564-7A34AF113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4FA6B-7F91-6BF5-FA25-D0F2ABAC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7037F8-A0C7-5D63-6456-4C4191A3482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853440"/>
            <a:ext cx="3517900" cy="5296349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sz="2000"/>
              <a:t>More information about production support at https://</a:t>
            </a:r>
            <a:r>
              <a:rPr lang="en-US" sz="2000" err="1"/>
              <a:t>libertymutual.atlassian.net</a:t>
            </a:r>
            <a:r>
              <a:rPr lang="en-US" sz="2000"/>
              <a:t>/wiki/spaces/CPH/pages/1581526829/B2B+Channel+OneInc+Production+Support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C125A-0DE8-493F-7DA9-01200D9CE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882" y="1353959"/>
            <a:ext cx="8094118" cy="452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25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CCBD9-42B7-61DE-FEB3-805CEA247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713BA-D835-2B7A-DC3D-B953B5CC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solidFill>
                  <a:srgbClr val="000000"/>
                </a:solidFill>
                <a:latin typeface="Aptos" panose="020B0004020202020204" pitchFamily="34" charset="0"/>
              </a:rPr>
              <a:t>Escalation Matrix</a:t>
            </a:r>
            <a:br>
              <a:rPr lang="en-US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CF43B8-3F08-F6BC-45E5-430EAF17D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BC105-33ED-EE52-7C0B-D89E32CD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FA835C-703C-0E84-CC77-CD82A640CA7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1A1446"/>
                </a:solidFill>
                <a:latin typeface="Arial"/>
                <a:ea typeface="Roboto"/>
                <a:cs typeface="Arial"/>
              </a:rPr>
              <a:t>Impact</a:t>
            </a:r>
            <a:endParaRPr lang="en-US" sz="1600">
              <a:solidFill>
                <a:srgbClr val="1A1446"/>
              </a:solidFill>
              <a:latin typeface="Arial"/>
              <a:cs typeface="Arial"/>
            </a:endParaRPr>
          </a:p>
          <a:p>
            <a:pPr marL="266065" indent="-266065"/>
            <a:r>
              <a:rPr lang="en-US" sz="1600">
                <a:solidFill>
                  <a:srgbClr val="1A1446"/>
                </a:solidFill>
                <a:latin typeface="Arial"/>
                <a:ea typeface="Roboto"/>
                <a:cs typeface="Arial"/>
              </a:rPr>
              <a:t>High: Many payments/reports affected; major outage halts operations. (e.g., high value/volume failures)</a:t>
            </a:r>
            <a:endParaRPr lang="en-US" sz="1600">
              <a:cs typeface="Arial"/>
            </a:endParaRPr>
          </a:p>
          <a:p>
            <a:pPr marL="266065" indent="-266065"/>
            <a:r>
              <a:rPr lang="en-US" sz="1600">
                <a:solidFill>
                  <a:srgbClr val="1A1446"/>
                </a:solidFill>
                <a:latin typeface="Arial"/>
                <a:ea typeface="Roboto"/>
                <a:cs typeface="Arial"/>
              </a:rPr>
              <a:t>Medium: Some payments/reports affected; partial/localized issue. (e.g., lower volume failures, webhooks failing)</a:t>
            </a:r>
            <a:endParaRPr lang="en-US" sz="1600">
              <a:cs typeface="Arial"/>
            </a:endParaRPr>
          </a:p>
          <a:p>
            <a:pPr marL="266065" indent="-266065"/>
            <a:r>
              <a:rPr lang="en-US" sz="1600">
                <a:solidFill>
                  <a:srgbClr val="1A1446"/>
                </a:solidFill>
                <a:latin typeface="Arial"/>
                <a:ea typeface="Roboto"/>
                <a:cs typeface="Arial"/>
              </a:rPr>
              <a:t>Low: 0–1 payment/report affected; isolated issue/request. (e.g., single payment, general inquiries/feature requests)</a:t>
            </a:r>
            <a:endParaRPr lang="en-US" sz="1600">
              <a:cs typeface="Arial"/>
            </a:endParaRPr>
          </a:p>
          <a:p>
            <a:pPr marL="266065" indent="-266065"/>
            <a:endParaRPr lang="en-US" sz="1600">
              <a:solidFill>
                <a:srgbClr val="1A1446"/>
              </a:solidFill>
              <a:latin typeface="Arial"/>
              <a:ea typeface="Roboto"/>
              <a:cs typeface="Arial"/>
            </a:endParaRPr>
          </a:p>
          <a:p>
            <a:pPr marL="0" indent="0">
              <a:buNone/>
            </a:pPr>
            <a:r>
              <a:rPr lang="en-US" sz="1600">
                <a:solidFill>
                  <a:srgbClr val="1A1446"/>
                </a:solidFill>
                <a:latin typeface="Arial"/>
                <a:ea typeface="Roboto"/>
                <a:cs typeface="Arial"/>
              </a:rPr>
              <a:t>Urgency</a:t>
            </a:r>
            <a:endParaRPr lang="en-US" sz="1600">
              <a:cs typeface="Arial"/>
            </a:endParaRPr>
          </a:p>
          <a:p>
            <a:pPr marL="266065" indent="-266065"/>
            <a:r>
              <a:rPr lang="en-US" sz="1600">
                <a:solidFill>
                  <a:srgbClr val="1A1446"/>
                </a:solidFill>
                <a:latin typeface="Arial"/>
                <a:ea typeface="Roboto"/>
                <a:cs typeface="Arial"/>
              </a:rPr>
              <a:t>High: Time-critical; many payments failing or platform inaccessible – immediate action required. (e.g., no payments processing, NACHA discrepancies, can’t access platform)</a:t>
            </a:r>
            <a:endParaRPr lang="en-US" sz="1600">
              <a:cs typeface="Arial"/>
            </a:endParaRPr>
          </a:p>
          <a:p>
            <a:pPr marL="266065" indent="-266065"/>
            <a:r>
              <a:rPr lang="en-US" sz="1600">
                <a:solidFill>
                  <a:srgbClr val="1A1446"/>
                </a:solidFill>
                <a:latin typeface="Arial"/>
                <a:ea typeface="Roboto"/>
                <a:cs typeface="Arial"/>
              </a:rPr>
              <a:t>Medium: Time-sensitive; a handful of payments impacted – address promptly. (e.g., fraud review, payment feedback discrepancies)</a:t>
            </a:r>
            <a:endParaRPr lang="en-US" sz="1600">
              <a:cs typeface="Arial"/>
            </a:endParaRPr>
          </a:p>
          <a:p>
            <a:pPr marL="266065" indent="-266065"/>
            <a:r>
              <a:rPr lang="en-US" sz="1600">
                <a:solidFill>
                  <a:srgbClr val="1A1446"/>
                </a:solidFill>
                <a:latin typeface="Arial"/>
                <a:ea typeface="Roboto"/>
                <a:cs typeface="Arial"/>
              </a:rPr>
              <a:t>Low: Routine request; handled in normal business flow. (e.g., payment status </a:t>
            </a:r>
            <a:r>
              <a:rPr lang="en-US" sz="1600">
                <a:solidFill>
                  <a:srgbClr val="1A1446"/>
                </a:solidFill>
                <a:ea typeface="Roboto"/>
                <a:cs typeface="+mn-lt"/>
              </a:rPr>
              <a:t>inquiry</a:t>
            </a:r>
            <a:r>
              <a:rPr lang="en-US" sz="1600">
                <a:solidFill>
                  <a:srgbClr val="1A1446"/>
                </a:solidFill>
                <a:latin typeface="Arial"/>
                <a:ea typeface="Roboto"/>
                <a:cs typeface="Arial"/>
              </a:rPr>
              <a:t>, EOB issue, general support)</a:t>
            </a:r>
            <a:endParaRPr lang="en-US" sz="1600"/>
          </a:p>
          <a:p>
            <a:pPr marL="266065" indent="-266065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00379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LM Brand Template 2018 Print">
  <a:themeElements>
    <a:clrScheme name="LM PRINT COLORS 2018">
      <a:dk1>
        <a:srgbClr val="343741"/>
      </a:dk1>
      <a:lt1>
        <a:srgbClr val="F5F5F5"/>
      </a:lt1>
      <a:dk2>
        <a:srgbClr val="1A1446"/>
      </a:dk2>
      <a:lt2>
        <a:srgbClr val="FFFFFF"/>
      </a:lt2>
      <a:accent1>
        <a:srgbClr val="FFD000"/>
      </a:accent1>
      <a:accent2>
        <a:srgbClr val="1A1446"/>
      </a:accent2>
      <a:accent3>
        <a:srgbClr val="78E1E1"/>
      </a:accent3>
      <a:accent4>
        <a:srgbClr val="06748C"/>
      </a:accent4>
      <a:accent5>
        <a:srgbClr val="B0B0B0"/>
      </a:accent5>
      <a:accent6>
        <a:srgbClr val="343741"/>
      </a:accent6>
      <a:hlink>
        <a:srgbClr val="06748C"/>
      </a:hlink>
      <a:folHlink>
        <a:srgbClr val="000000"/>
      </a:folHlink>
    </a:clrScheme>
    <a:fontScheme name="LM 2018 corpora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tential_onsite_activities.potx" id="{864188CA-1384-474E-A7D5-AE3ED79EC92A}" vid="{AE2CED84-9AD1-49D3-9F37-FBB19826B94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Macintosh PowerPoint</Application>
  <PresentationFormat>Widescreen</PresentationFormat>
  <Paragraphs>62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Roboto</vt:lpstr>
      <vt:lpstr>Wingdings 2</vt:lpstr>
      <vt:lpstr>Office Theme</vt:lpstr>
      <vt:lpstr>LM Brand Template 2018 Print</vt:lpstr>
      <vt:lpstr>think-cell Slide</vt:lpstr>
      <vt:lpstr>B2B KT Session 2</vt:lpstr>
      <vt:lpstr>Overview</vt:lpstr>
      <vt:lpstr>Ticketing &amp; Incident Management Process </vt:lpstr>
      <vt:lpstr>OneInc Vendor Ticket Creation Process</vt:lpstr>
      <vt:lpstr>OneInc Escalation Procedures</vt:lpstr>
      <vt:lpstr>Technical Emergency Escalation</vt:lpstr>
      <vt:lpstr>Incident Flow Diagram</vt:lpstr>
      <vt:lpstr>OneInc Account Team Contact Information</vt:lpstr>
      <vt:lpstr>SLAs </vt:lpstr>
      <vt:lpstr>Escalation Matrix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Oyinlola, Steven</dc:creator>
  <cp:lastModifiedBy>Oyinlola, Steven</cp:lastModifiedBy>
  <cp:revision>2</cp:revision>
  <dcterms:created xsi:type="dcterms:W3CDTF">2026-05-11T11:25:33Z</dcterms:created>
  <dcterms:modified xsi:type="dcterms:W3CDTF">2026-05-12T14:52:01Z</dcterms:modified>
</cp:coreProperties>
</file>